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44"/>
  </p:notesMasterIdLst>
  <p:sldIdLst>
    <p:sldId id="270" r:id="rId6"/>
    <p:sldId id="295" r:id="rId7"/>
    <p:sldId id="294" r:id="rId8"/>
    <p:sldId id="263" r:id="rId9"/>
    <p:sldId id="293" r:id="rId10"/>
    <p:sldId id="300" r:id="rId11"/>
    <p:sldId id="283" r:id="rId12"/>
    <p:sldId id="317" r:id="rId13"/>
    <p:sldId id="318" r:id="rId14"/>
    <p:sldId id="319" r:id="rId15"/>
    <p:sldId id="315" r:id="rId16"/>
    <p:sldId id="316" r:id="rId17"/>
    <p:sldId id="279" r:id="rId18"/>
    <p:sldId id="301" r:id="rId19"/>
    <p:sldId id="302" r:id="rId20"/>
    <p:sldId id="307" r:id="rId21"/>
    <p:sldId id="305" r:id="rId22"/>
    <p:sldId id="306" r:id="rId23"/>
    <p:sldId id="314" r:id="rId24"/>
    <p:sldId id="322" r:id="rId25"/>
    <p:sldId id="304" r:id="rId26"/>
    <p:sldId id="308" r:id="rId27"/>
    <p:sldId id="323" r:id="rId28"/>
    <p:sldId id="309" r:id="rId29"/>
    <p:sldId id="324" r:id="rId30"/>
    <p:sldId id="310" r:id="rId31"/>
    <p:sldId id="325" r:id="rId32"/>
    <p:sldId id="326" r:id="rId33"/>
    <p:sldId id="311" r:id="rId34"/>
    <p:sldId id="327" r:id="rId35"/>
    <p:sldId id="312" r:id="rId36"/>
    <p:sldId id="328" r:id="rId37"/>
    <p:sldId id="313" r:id="rId38"/>
    <p:sldId id="320" r:id="rId39"/>
    <p:sldId id="321" r:id="rId40"/>
    <p:sldId id="282" r:id="rId41"/>
    <p:sldId id="268" r:id="rId42"/>
    <p:sldId id="277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ADD658-1F08-48C2-BD7F-C00E7B9745FB}">
          <p14:sldIdLst>
            <p14:sldId id="270"/>
          </p14:sldIdLst>
        </p14:section>
        <p14:section name="Terms" id="{0602D33C-D4AB-4D7C-9735-9E1D0C824A38}">
          <p14:sldIdLst>
            <p14:sldId id="295"/>
            <p14:sldId id="294"/>
            <p14:sldId id="263"/>
            <p14:sldId id="293"/>
          </p14:sldIdLst>
        </p14:section>
        <p14:section name="Introduction" id="{A0334BDA-54ED-4B6A-A7C9-B3CD4BAD7C9D}">
          <p14:sldIdLst>
            <p14:sldId id="300"/>
            <p14:sldId id="283"/>
            <p14:sldId id="317"/>
            <p14:sldId id="318"/>
            <p14:sldId id="319"/>
            <p14:sldId id="315"/>
            <p14:sldId id="316"/>
          </p14:sldIdLst>
        </p14:section>
        <p14:section name="Significance - the game" id="{C6A5E0E3-D369-436D-BB89-D56DB6C1073A}">
          <p14:sldIdLst>
            <p14:sldId id="279"/>
            <p14:sldId id="301"/>
            <p14:sldId id="302"/>
          </p14:sldIdLst>
        </p14:section>
        <p14:section name="Retrospective in closer look" id="{E88DFC1D-3FFF-479B-B6C8-C24501622C8C}">
          <p14:sldIdLst>
            <p14:sldId id="307"/>
            <p14:sldId id="305"/>
            <p14:sldId id="306"/>
            <p14:sldId id="314"/>
            <p14:sldId id="322"/>
            <p14:sldId id="304"/>
            <p14:sldId id="308"/>
            <p14:sldId id="323"/>
            <p14:sldId id="309"/>
            <p14:sldId id="324"/>
            <p14:sldId id="310"/>
            <p14:sldId id="325"/>
            <p14:sldId id="326"/>
            <p14:sldId id="311"/>
            <p14:sldId id="327"/>
            <p14:sldId id="312"/>
            <p14:sldId id="328"/>
          </p14:sldIdLst>
        </p14:section>
        <p14:section name="How to start" id="{B2822556-A3E0-40B6-BC2F-F56D812FB540}">
          <p14:sldIdLst>
            <p14:sldId id="313"/>
            <p14:sldId id="320"/>
            <p14:sldId id="321"/>
            <p14:sldId id="282"/>
          </p14:sldIdLst>
        </p14:section>
        <p14:section name="Extras" id="{BE899CC7-AD22-4050-ACB5-49FBB712D373}">
          <p14:sldIdLst>
            <p14:sldId id="268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84369" autoAdjust="0"/>
  </p:normalViewPr>
  <p:slideViewPr>
    <p:cSldViewPr>
      <p:cViewPr varScale="1">
        <p:scale>
          <a:sx n="102" d="100"/>
          <a:sy n="102" d="100"/>
        </p:scale>
        <p:origin x="172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21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C7358-0666-423F-8DE8-118A27969060}" type="datetimeFigureOut">
              <a:rPr lang="en-US" smtClean="0"/>
              <a:t>2014-04-16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7ECA6-36FC-4E80-A8BF-304C950BF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14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 fontAlgn="ctr"/>
            <a:endParaRPr lang="ru-RU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F89017-A04B-4BCF-BE8B-5E5F73DA363D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05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41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Тренинг не для гуру,</a:t>
            </a:r>
            <a:r>
              <a:rPr lang="ru-RU" baseline="0" dirty="0" smtClean="0"/>
              <a:t> он для неискушенной публики</a:t>
            </a:r>
          </a:p>
          <a:p>
            <a:endParaRPr lang="ru-RU" baseline="0" dirty="0" smtClean="0"/>
          </a:p>
          <a:p>
            <a:r>
              <a:rPr lang="ru-RU" baseline="0" dirty="0" smtClean="0"/>
              <a:t>Вопросы до перехода на следующий слайд</a:t>
            </a:r>
          </a:p>
          <a:p>
            <a:pPr marL="171450" indent="-171450">
              <a:buFontTx/>
              <a:buChar char="-"/>
            </a:pPr>
            <a:r>
              <a:rPr lang="ru-RU" baseline="0" dirty="0" smtClean="0"/>
              <a:t>Кто использует\использовал</a:t>
            </a:r>
          </a:p>
          <a:p>
            <a:pPr marL="171450" indent="-171450">
              <a:buFontTx/>
              <a:buChar char="-"/>
            </a:pPr>
            <a:r>
              <a:rPr lang="ru-RU" baseline="0" dirty="0" smtClean="0"/>
              <a:t>Кто слышал и считает, что нужно</a:t>
            </a:r>
          </a:p>
          <a:p>
            <a:pPr marL="171450" indent="-171450">
              <a:buFontTx/>
              <a:buChar char="-"/>
            </a:pPr>
            <a:r>
              <a:rPr lang="ru-RU" baseline="0" dirty="0" smtClean="0"/>
              <a:t>Для кого идею еще нужно продать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41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41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Алхимия в чистом виде =)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81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SCRUM</a:t>
            </a:r>
            <a:r>
              <a:rPr lang="en-US" baseline="0" dirty="0" smtClean="0"/>
              <a:t> </a:t>
            </a:r>
            <a:r>
              <a:rPr lang="ru-RU" baseline="0" dirty="0" smtClean="0"/>
              <a:t>не открывает уникальную мысль учится на своих ошибках</a:t>
            </a:r>
          </a:p>
          <a:p>
            <a:endParaRPr lang="ru-RU" baseline="0" dirty="0" smtClean="0"/>
          </a:p>
          <a:p>
            <a:r>
              <a:rPr lang="ru-RU" baseline="0" dirty="0" smtClean="0"/>
              <a:t>Если так много говорят во всех методологиях, значит </a:t>
            </a:r>
            <a:r>
              <a:rPr lang="ru-RU" baseline="0" dirty="0" err="1" smtClean="0"/>
              <a:t>уделение</a:t>
            </a:r>
            <a:r>
              <a:rPr lang="ru-RU" baseline="0" dirty="0" smtClean="0"/>
              <a:t> внимания на улучшение работает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2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Анализ</a:t>
            </a:r>
            <a:r>
              <a:rPr lang="ru-RU" baseline="0" dirty="0" smtClean="0"/>
              <a:t> проекта </a:t>
            </a:r>
            <a:r>
              <a:rPr lang="ru-RU" dirty="0" smtClean="0"/>
              <a:t>это написание рецепта, ингредиентов</a:t>
            </a:r>
            <a:r>
              <a:rPr lang="ru-RU" baseline="0" dirty="0" smtClean="0"/>
              <a:t> для которого не будет ни в одном другом проекте</a:t>
            </a:r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2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SCRUM</a:t>
            </a:r>
            <a:r>
              <a:rPr lang="ru-RU" baseline="0" dirty="0" smtClean="0"/>
              <a:t> вводит ее обязательной регулярной процедурой в итеративном процессе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2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Ретро призвано взглянуть на проблемы и успехи с разных сторон</a:t>
            </a:r>
          </a:p>
          <a:p>
            <a:endParaRPr lang="ru-RU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До</a:t>
            </a:r>
            <a:r>
              <a:rPr lang="ru-RU" baseline="0" dirty="0" smtClean="0"/>
              <a:t> следующего слайда - </a:t>
            </a:r>
            <a:r>
              <a:rPr lang="ru-RU" dirty="0" smtClean="0"/>
              <a:t>Опрос</a:t>
            </a:r>
            <a:r>
              <a:rPr lang="ru-RU" baseline="0" dirty="0" smtClean="0"/>
              <a:t> на молодцов в проекте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64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Чтобы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64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Уточнить про общие победы</a:t>
            </a:r>
          </a:p>
          <a:p>
            <a:endParaRPr lang="ru-RU" dirty="0" smtClean="0"/>
          </a:p>
          <a:p>
            <a:r>
              <a:rPr lang="ru-RU" dirty="0" smtClean="0"/>
              <a:t>2 добровольца на игру</a:t>
            </a:r>
          </a:p>
          <a:p>
            <a:r>
              <a:rPr lang="ru-RU" dirty="0" smtClean="0"/>
              <a:t>1 на таймер</a:t>
            </a:r>
          </a:p>
          <a:p>
            <a:r>
              <a:rPr lang="ru-RU" dirty="0" smtClean="0"/>
              <a:t>1 на счет очков</a:t>
            </a:r>
          </a:p>
          <a:p>
            <a:r>
              <a:rPr lang="ru-RU" dirty="0" smtClean="0"/>
              <a:t>Остальные болельщики за</a:t>
            </a:r>
            <a:r>
              <a:rPr lang="ru-RU" baseline="0" dirty="0" smtClean="0"/>
              <a:t> игроков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48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чем выигрыш</a:t>
            </a:r>
            <a:r>
              <a:rPr lang="ru-RU" baseline="0" dirty="0" smtClean="0"/>
              <a:t> программиста от удачи проекта??? Резюме, удачный опыт, рост профессионализма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90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430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43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До 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80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Разогрев</a:t>
            </a:r>
          </a:p>
          <a:p>
            <a:r>
              <a:rPr lang="ru-RU" dirty="0" smtClean="0"/>
              <a:t>Люди</a:t>
            </a:r>
            <a:r>
              <a:rPr lang="ru-RU" baseline="0" dirty="0" smtClean="0"/>
              <a:t> должны настроиться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043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Собираем общую картину</a:t>
            </a:r>
          </a:p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кто-то не был день – он пропустил 20% недельного спринта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621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Gathering data creates a shared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picture of what happened. Without a common picture, individuals tend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verify their own opinions and beliefs. Gathering data expands everyone’s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perspective.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621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Теперь нужно ответить на вопросы почему</a:t>
            </a:r>
          </a:p>
          <a:p>
            <a:r>
              <a:rPr lang="ru-RU" dirty="0" smtClean="0"/>
              <a:t>Почему</a:t>
            </a:r>
            <a:r>
              <a:rPr lang="ru-RU" baseline="0" dirty="0" smtClean="0"/>
              <a:t> хорошо и почему плохо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467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 is the time to ask “Why?” and begin thinking about what to do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differently. When generating insights, the team considers the data to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identify strengths and issues from the previous iteration.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Lead the team to examine the conditions, interactions, and patterns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contributed to their success. Investigate breakdowns and deficiencies.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for risks and unexpected events or outcomes.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467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158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SCRUM</a:t>
            </a:r>
            <a:r>
              <a:rPr lang="ru-RU" baseline="0" dirty="0" smtClean="0"/>
              <a:t> вводит ее обязательной регулярной процедурой в итеративном процессе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2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862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Вопросы?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7ECA6-36FC-4E80-A8BF-304C950BFEE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86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png"/><Relationship Id="rId10" Type="http://schemas.openxmlformats.org/officeDocument/2006/relationships/oleObject" Target="../embeddings/oleObject5.bin"/><Relationship Id="rId4" Type="http://schemas.openxmlformats.org/officeDocument/2006/relationships/image" Target="../media/image4.png"/><Relationship Id="rId9" Type="http://schemas.openxmlformats.org/officeDocument/2006/relationships/oleObject" Target="../embeddings/oleObject4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588" y="2590800"/>
            <a:ext cx="9142412" cy="3609975"/>
            <a:chOff x="1" y="1632"/>
            <a:chExt cx="5759" cy="2274"/>
          </a:xfrm>
        </p:grpSpPr>
        <p:pic>
          <p:nvPicPr>
            <p:cNvPr id="5" name="Object 3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" y="1632"/>
              <a:ext cx="5759" cy="2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Object 4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040" y="1632"/>
              <a:ext cx="72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Object 5"/>
            <p:cNvPicPr>
              <a:picLocks noChangeAspect="1" noChangeArrowheads="1"/>
            </p:cNvPicPr>
            <p:nvPr userDrawn="1"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600" y="1632"/>
              <a:ext cx="72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Object 6"/>
            <p:cNvPicPr>
              <a:picLocks noChangeAspect="1" noChangeArrowheads="1"/>
            </p:cNvPicPr>
            <p:nvPr userDrawn="1"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320" y="1632"/>
              <a:ext cx="72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38200" y="1447800"/>
            <a:ext cx="75072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076450" y="685800"/>
            <a:ext cx="53435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>
                <a:solidFill>
                  <a:srgbClr val="002C78"/>
                </a:solidFill>
              </a:rPr>
              <a:t>Delivering Excellence in Software Engineering </a:t>
            </a: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1588" y="2590800"/>
          <a:ext cx="9142412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" name="Photo Editor Photo" r:id="rId6" imgW="9142857" imgH="3610479" progId="">
                  <p:embed/>
                </p:oleObj>
              </mc:Choice>
              <mc:Fallback>
                <p:oleObj name="Photo Editor Photo" r:id="rId6" imgW="9142857" imgH="361047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2590800"/>
                        <a:ext cx="9142412" cy="360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Object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2592388"/>
            <a:ext cx="9142413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8001000" y="2590800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" name="Photo Editor Photo" r:id="rId8" imgW="1142857" imgH="914286" progId="">
                  <p:embed/>
                </p:oleObj>
              </mc:Choice>
              <mc:Fallback>
                <p:oleObj name="Photo Editor Photo" r:id="rId8" imgW="1142857" imgH="91428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2590800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5715000" y="2590800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" name="Photo Editor Photo" r:id="rId9" imgW="1142857" imgH="914286" progId="">
                  <p:embed/>
                </p:oleObj>
              </mc:Choice>
              <mc:Fallback>
                <p:oleObj name="Photo Editor Photo" r:id="rId9" imgW="1142857" imgH="91428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590800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/>
        </p:nvGraphicFramePr>
        <p:xfrm>
          <a:off x="6858000" y="2590800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" name="Photo Editor Photo" r:id="rId10" imgW="1142857" imgH="914286" progId="">
                  <p:embed/>
                </p:oleObj>
              </mc:Choice>
              <mc:Fallback>
                <p:oleObj name="Photo Editor Photo" r:id="rId10" imgW="1142857" imgH="91428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590800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9"/>
          <p:cNvSpPr>
            <a:spLocks noEditPoints="1"/>
          </p:cNvSpPr>
          <p:nvPr/>
        </p:nvSpPr>
        <p:spPr bwMode="auto">
          <a:xfrm>
            <a:off x="474663" y="677863"/>
            <a:ext cx="1436687" cy="358775"/>
          </a:xfrm>
          <a:custGeom>
            <a:avLst/>
            <a:gdLst/>
            <a:ahLst/>
            <a:cxnLst>
              <a:cxn ang="0">
                <a:pos x="1997" y="570"/>
              </a:cxn>
              <a:cxn ang="0">
                <a:pos x="0" y="377"/>
              </a:cxn>
              <a:cxn ang="0">
                <a:pos x="1660" y="25"/>
              </a:cxn>
              <a:cxn ang="0">
                <a:pos x="1651" y="108"/>
              </a:cxn>
              <a:cxn ang="0">
                <a:pos x="1679" y="92"/>
              </a:cxn>
              <a:cxn ang="0">
                <a:pos x="1639" y="583"/>
              </a:cxn>
              <a:cxn ang="0">
                <a:pos x="1848" y="94"/>
              </a:cxn>
              <a:cxn ang="0">
                <a:pos x="1867" y="109"/>
              </a:cxn>
              <a:cxn ang="0">
                <a:pos x="2001" y="75"/>
              </a:cxn>
              <a:cxn ang="0">
                <a:pos x="1966" y="13"/>
              </a:cxn>
              <a:cxn ang="0">
                <a:pos x="1876" y="5"/>
              </a:cxn>
              <a:cxn ang="0">
                <a:pos x="1811" y="31"/>
              </a:cxn>
              <a:cxn ang="0">
                <a:pos x="1755" y="2"/>
              </a:cxn>
              <a:cxn ang="0">
                <a:pos x="1667" y="19"/>
              </a:cxn>
              <a:cxn ang="0">
                <a:pos x="1268" y="19"/>
              </a:cxn>
              <a:cxn ang="0">
                <a:pos x="1217" y="61"/>
              </a:cxn>
              <a:cxn ang="0">
                <a:pos x="1187" y="233"/>
              </a:cxn>
              <a:cxn ang="0">
                <a:pos x="1337" y="96"/>
              </a:cxn>
              <a:cxn ang="0">
                <a:pos x="1367" y="98"/>
              </a:cxn>
              <a:cxn ang="0">
                <a:pos x="1356" y="211"/>
              </a:cxn>
              <a:cxn ang="0">
                <a:pos x="1240" y="285"/>
              </a:cxn>
              <a:cxn ang="0">
                <a:pos x="1165" y="383"/>
              </a:cxn>
              <a:cxn ang="0">
                <a:pos x="1159" y="556"/>
              </a:cxn>
              <a:cxn ang="0">
                <a:pos x="1228" y="589"/>
              </a:cxn>
              <a:cxn ang="0">
                <a:pos x="1314" y="577"/>
              </a:cxn>
              <a:cxn ang="0">
                <a:pos x="1498" y="121"/>
              </a:cxn>
              <a:cxn ang="0">
                <a:pos x="1477" y="36"/>
              </a:cxn>
              <a:cxn ang="0">
                <a:pos x="1368" y="0"/>
              </a:cxn>
              <a:cxn ang="0">
                <a:pos x="1323" y="493"/>
              </a:cxn>
              <a:cxn ang="0">
                <a:pos x="1289" y="498"/>
              </a:cxn>
              <a:cxn ang="0">
                <a:pos x="1295" y="369"/>
              </a:cxn>
              <a:cxn ang="0">
                <a:pos x="824" y="38"/>
              </a:cxn>
              <a:cxn ang="0">
                <a:pos x="729" y="2"/>
              </a:cxn>
              <a:cxn ang="0">
                <a:pos x="630" y="9"/>
              </a:cxn>
              <a:cxn ang="0">
                <a:pos x="567" y="50"/>
              </a:cxn>
              <a:cxn ang="0">
                <a:pos x="539" y="121"/>
              </a:cxn>
              <a:cxn ang="0">
                <a:pos x="509" y="541"/>
              </a:cxn>
              <a:cxn ang="0">
                <a:pos x="608" y="589"/>
              </a:cxn>
              <a:cxn ang="0">
                <a:pos x="743" y="568"/>
              </a:cxn>
              <a:cxn ang="0">
                <a:pos x="787" y="520"/>
              </a:cxn>
              <a:cxn ang="0">
                <a:pos x="685" y="356"/>
              </a:cxn>
              <a:cxn ang="0">
                <a:pos x="641" y="502"/>
              </a:cxn>
              <a:cxn ang="0">
                <a:pos x="627" y="479"/>
              </a:cxn>
              <a:cxn ang="0">
                <a:pos x="843" y="79"/>
              </a:cxn>
              <a:cxn ang="0">
                <a:pos x="708" y="94"/>
              </a:cxn>
              <a:cxn ang="0">
                <a:pos x="699" y="252"/>
              </a:cxn>
              <a:cxn ang="0">
                <a:pos x="687" y="92"/>
              </a:cxn>
              <a:cxn ang="0">
                <a:pos x="1068" y="0"/>
              </a:cxn>
              <a:cxn ang="0">
                <a:pos x="980" y="4"/>
              </a:cxn>
              <a:cxn ang="0">
                <a:pos x="963" y="581"/>
              </a:cxn>
              <a:cxn ang="0">
                <a:pos x="1077" y="579"/>
              </a:cxn>
              <a:cxn ang="0">
                <a:pos x="1124" y="520"/>
              </a:cxn>
              <a:cxn ang="0">
                <a:pos x="1172" y="56"/>
              </a:cxn>
              <a:cxn ang="0">
                <a:pos x="1015" y="92"/>
              </a:cxn>
              <a:cxn ang="0">
                <a:pos x="1045" y="106"/>
              </a:cxn>
              <a:cxn ang="0">
                <a:pos x="991" y="496"/>
              </a:cxn>
              <a:cxn ang="0">
                <a:pos x="959" y="495"/>
              </a:cxn>
              <a:cxn ang="0">
                <a:pos x="999" y="109"/>
              </a:cxn>
            </a:cxnLst>
            <a:rect l="0" t="0" r="r" b="b"/>
            <a:pathLst>
              <a:path w="2496" h="706">
                <a:moveTo>
                  <a:pt x="2029" y="56"/>
                </a:moveTo>
                <a:lnTo>
                  <a:pt x="2020" y="177"/>
                </a:lnTo>
                <a:lnTo>
                  <a:pt x="2349" y="314"/>
                </a:lnTo>
                <a:lnTo>
                  <a:pt x="1999" y="450"/>
                </a:lnTo>
                <a:lnTo>
                  <a:pt x="1990" y="573"/>
                </a:lnTo>
                <a:lnTo>
                  <a:pt x="1997" y="570"/>
                </a:lnTo>
                <a:lnTo>
                  <a:pt x="2496" y="373"/>
                </a:lnTo>
                <a:lnTo>
                  <a:pt x="2496" y="248"/>
                </a:lnTo>
                <a:lnTo>
                  <a:pt x="2029" y="56"/>
                </a:lnTo>
                <a:close/>
                <a:moveTo>
                  <a:pt x="506" y="56"/>
                </a:moveTo>
                <a:lnTo>
                  <a:pt x="0" y="252"/>
                </a:lnTo>
                <a:lnTo>
                  <a:pt x="0" y="377"/>
                </a:lnTo>
                <a:lnTo>
                  <a:pt x="467" y="573"/>
                </a:lnTo>
                <a:lnTo>
                  <a:pt x="476" y="450"/>
                </a:lnTo>
                <a:lnTo>
                  <a:pt x="146" y="314"/>
                </a:lnTo>
                <a:lnTo>
                  <a:pt x="497" y="177"/>
                </a:lnTo>
                <a:lnTo>
                  <a:pt x="506" y="56"/>
                </a:lnTo>
                <a:close/>
                <a:moveTo>
                  <a:pt x="1660" y="25"/>
                </a:moveTo>
                <a:lnTo>
                  <a:pt x="1662" y="4"/>
                </a:lnTo>
                <a:lnTo>
                  <a:pt x="1533" y="4"/>
                </a:lnTo>
                <a:lnTo>
                  <a:pt x="1465" y="583"/>
                </a:lnTo>
                <a:lnTo>
                  <a:pt x="1593" y="583"/>
                </a:lnTo>
                <a:lnTo>
                  <a:pt x="1649" y="119"/>
                </a:lnTo>
                <a:lnTo>
                  <a:pt x="1651" y="108"/>
                </a:lnTo>
                <a:lnTo>
                  <a:pt x="1656" y="100"/>
                </a:lnTo>
                <a:lnTo>
                  <a:pt x="1660" y="96"/>
                </a:lnTo>
                <a:lnTo>
                  <a:pt x="1663" y="94"/>
                </a:lnTo>
                <a:lnTo>
                  <a:pt x="1669" y="92"/>
                </a:lnTo>
                <a:lnTo>
                  <a:pt x="1674" y="92"/>
                </a:lnTo>
                <a:lnTo>
                  <a:pt x="1679" y="92"/>
                </a:lnTo>
                <a:lnTo>
                  <a:pt x="1683" y="94"/>
                </a:lnTo>
                <a:lnTo>
                  <a:pt x="1688" y="96"/>
                </a:lnTo>
                <a:lnTo>
                  <a:pt x="1690" y="100"/>
                </a:lnTo>
                <a:lnTo>
                  <a:pt x="1693" y="108"/>
                </a:lnTo>
                <a:lnTo>
                  <a:pt x="1695" y="119"/>
                </a:lnTo>
                <a:lnTo>
                  <a:pt x="1639" y="583"/>
                </a:lnTo>
                <a:lnTo>
                  <a:pt x="1767" y="583"/>
                </a:lnTo>
                <a:lnTo>
                  <a:pt x="1823" y="119"/>
                </a:lnTo>
                <a:lnTo>
                  <a:pt x="1825" y="109"/>
                </a:lnTo>
                <a:lnTo>
                  <a:pt x="1830" y="102"/>
                </a:lnTo>
                <a:lnTo>
                  <a:pt x="1837" y="96"/>
                </a:lnTo>
                <a:lnTo>
                  <a:pt x="1848" y="94"/>
                </a:lnTo>
                <a:lnTo>
                  <a:pt x="1853" y="96"/>
                </a:lnTo>
                <a:lnTo>
                  <a:pt x="1858" y="96"/>
                </a:lnTo>
                <a:lnTo>
                  <a:pt x="1862" y="98"/>
                </a:lnTo>
                <a:lnTo>
                  <a:pt x="1864" y="102"/>
                </a:lnTo>
                <a:lnTo>
                  <a:pt x="1866" y="104"/>
                </a:lnTo>
                <a:lnTo>
                  <a:pt x="1867" y="109"/>
                </a:lnTo>
                <a:lnTo>
                  <a:pt x="1867" y="115"/>
                </a:lnTo>
                <a:lnTo>
                  <a:pt x="1867" y="121"/>
                </a:lnTo>
                <a:lnTo>
                  <a:pt x="1813" y="583"/>
                </a:lnTo>
                <a:lnTo>
                  <a:pt x="1943" y="583"/>
                </a:lnTo>
                <a:lnTo>
                  <a:pt x="2001" y="82"/>
                </a:lnTo>
                <a:lnTo>
                  <a:pt x="2001" y="75"/>
                </a:lnTo>
                <a:lnTo>
                  <a:pt x="2001" y="65"/>
                </a:lnTo>
                <a:lnTo>
                  <a:pt x="1999" y="56"/>
                </a:lnTo>
                <a:lnTo>
                  <a:pt x="1997" y="48"/>
                </a:lnTo>
                <a:lnTo>
                  <a:pt x="1988" y="32"/>
                </a:lnTo>
                <a:lnTo>
                  <a:pt x="1978" y="23"/>
                </a:lnTo>
                <a:lnTo>
                  <a:pt x="1966" y="13"/>
                </a:lnTo>
                <a:lnTo>
                  <a:pt x="1950" y="5"/>
                </a:lnTo>
                <a:lnTo>
                  <a:pt x="1934" y="2"/>
                </a:lnTo>
                <a:lnTo>
                  <a:pt x="1918" y="0"/>
                </a:lnTo>
                <a:lnTo>
                  <a:pt x="1902" y="2"/>
                </a:lnTo>
                <a:lnTo>
                  <a:pt x="1890" y="4"/>
                </a:lnTo>
                <a:lnTo>
                  <a:pt x="1876" y="5"/>
                </a:lnTo>
                <a:lnTo>
                  <a:pt x="1864" y="9"/>
                </a:lnTo>
                <a:lnTo>
                  <a:pt x="1851" y="15"/>
                </a:lnTo>
                <a:lnTo>
                  <a:pt x="1841" y="23"/>
                </a:lnTo>
                <a:lnTo>
                  <a:pt x="1830" y="31"/>
                </a:lnTo>
                <a:lnTo>
                  <a:pt x="1820" y="40"/>
                </a:lnTo>
                <a:lnTo>
                  <a:pt x="1811" y="31"/>
                </a:lnTo>
                <a:lnTo>
                  <a:pt x="1804" y="23"/>
                </a:lnTo>
                <a:lnTo>
                  <a:pt x="1795" y="15"/>
                </a:lnTo>
                <a:lnTo>
                  <a:pt x="1785" y="9"/>
                </a:lnTo>
                <a:lnTo>
                  <a:pt x="1776" y="5"/>
                </a:lnTo>
                <a:lnTo>
                  <a:pt x="1765" y="4"/>
                </a:lnTo>
                <a:lnTo>
                  <a:pt x="1755" y="2"/>
                </a:lnTo>
                <a:lnTo>
                  <a:pt x="1743" y="0"/>
                </a:lnTo>
                <a:lnTo>
                  <a:pt x="1718" y="2"/>
                </a:lnTo>
                <a:lnTo>
                  <a:pt x="1695" y="7"/>
                </a:lnTo>
                <a:lnTo>
                  <a:pt x="1686" y="9"/>
                </a:lnTo>
                <a:lnTo>
                  <a:pt x="1676" y="13"/>
                </a:lnTo>
                <a:lnTo>
                  <a:pt x="1667" y="19"/>
                </a:lnTo>
                <a:lnTo>
                  <a:pt x="1660" y="25"/>
                </a:lnTo>
                <a:close/>
                <a:moveTo>
                  <a:pt x="1368" y="0"/>
                </a:moveTo>
                <a:lnTo>
                  <a:pt x="1331" y="2"/>
                </a:lnTo>
                <a:lnTo>
                  <a:pt x="1303" y="7"/>
                </a:lnTo>
                <a:lnTo>
                  <a:pt x="1279" y="13"/>
                </a:lnTo>
                <a:lnTo>
                  <a:pt x="1268" y="19"/>
                </a:lnTo>
                <a:lnTo>
                  <a:pt x="1258" y="25"/>
                </a:lnTo>
                <a:lnTo>
                  <a:pt x="1247" y="31"/>
                </a:lnTo>
                <a:lnTo>
                  <a:pt x="1238" y="38"/>
                </a:lnTo>
                <a:lnTo>
                  <a:pt x="1231" y="46"/>
                </a:lnTo>
                <a:lnTo>
                  <a:pt x="1224" y="54"/>
                </a:lnTo>
                <a:lnTo>
                  <a:pt x="1217" y="61"/>
                </a:lnTo>
                <a:lnTo>
                  <a:pt x="1212" y="71"/>
                </a:lnTo>
                <a:lnTo>
                  <a:pt x="1208" y="82"/>
                </a:lnTo>
                <a:lnTo>
                  <a:pt x="1205" y="94"/>
                </a:lnTo>
                <a:lnTo>
                  <a:pt x="1201" y="106"/>
                </a:lnTo>
                <a:lnTo>
                  <a:pt x="1200" y="117"/>
                </a:lnTo>
                <a:lnTo>
                  <a:pt x="1187" y="233"/>
                </a:lnTo>
                <a:lnTo>
                  <a:pt x="1312" y="233"/>
                </a:lnTo>
                <a:lnTo>
                  <a:pt x="1317" y="160"/>
                </a:lnTo>
                <a:lnTo>
                  <a:pt x="1321" y="134"/>
                </a:lnTo>
                <a:lnTo>
                  <a:pt x="1326" y="115"/>
                </a:lnTo>
                <a:lnTo>
                  <a:pt x="1331" y="104"/>
                </a:lnTo>
                <a:lnTo>
                  <a:pt x="1337" y="96"/>
                </a:lnTo>
                <a:lnTo>
                  <a:pt x="1344" y="92"/>
                </a:lnTo>
                <a:lnTo>
                  <a:pt x="1351" y="90"/>
                </a:lnTo>
                <a:lnTo>
                  <a:pt x="1356" y="90"/>
                </a:lnTo>
                <a:lnTo>
                  <a:pt x="1361" y="92"/>
                </a:lnTo>
                <a:lnTo>
                  <a:pt x="1365" y="94"/>
                </a:lnTo>
                <a:lnTo>
                  <a:pt x="1367" y="98"/>
                </a:lnTo>
                <a:lnTo>
                  <a:pt x="1368" y="102"/>
                </a:lnTo>
                <a:lnTo>
                  <a:pt x="1370" y="106"/>
                </a:lnTo>
                <a:lnTo>
                  <a:pt x="1370" y="111"/>
                </a:lnTo>
                <a:lnTo>
                  <a:pt x="1370" y="119"/>
                </a:lnTo>
                <a:lnTo>
                  <a:pt x="1360" y="204"/>
                </a:lnTo>
                <a:lnTo>
                  <a:pt x="1356" y="211"/>
                </a:lnTo>
                <a:lnTo>
                  <a:pt x="1349" y="219"/>
                </a:lnTo>
                <a:lnTo>
                  <a:pt x="1337" y="227"/>
                </a:lnTo>
                <a:lnTo>
                  <a:pt x="1321" y="237"/>
                </a:lnTo>
                <a:lnTo>
                  <a:pt x="1309" y="242"/>
                </a:lnTo>
                <a:lnTo>
                  <a:pt x="1272" y="265"/>
                </a:lnTo>
                <a:lnTo>
                  <a:pt x="1240" y="285"/>
                </a:lnTo>
                <a:lnTo>
                  <a:pt x="1215" y="300"/>
                </a:lnTo>
                <a:lnTo>
                  <a:pt x="1198" y="315"/>
                </a:lnTo>
                <a:lnTo>
                  <a:pt x="1184" y="331"/>
                </a:lnTo>
                <a:lnTo>
                  <a:pt x="1175" y="348"/>
                </a:lnTo>
                <a:lnTo>
                  <a:pt x="1168" y="366"/>
                </a:lnTo>
                <a:lnTo>
                  <a:pt x="1165" y="383"/>
                </a:lnTo>
                <a:lnTo>
                  <a:pt x="1150" y="498"/>
                </a:lnTo>
                <a:lnTo>
                  <a:pt x="1149" y="512"/>
                </a:lnTo>
                <a:lnTo>
                  <a:pt x="1149" y="523"/>
                </a:lnTo>
                <a:lnTo>
                  <a:pt x="1152" y="535"/>
                </a:lnTo>
                <a:lnTo>
                  <a:pt x="1154" y="546"/>
                </a:lnTo>
                <a:lnTo>
                  <a:pt x="1159" y="556"/>
                </a:lnTo>
                <a:lnTo>
                  <a:pt x="1166" y="566"/>
                </a:lnTo>
                <a:lnTo>
                  <a:pt x="1175" y="573"/>
                </a:lnTo>
                <a:lnTo>
                  <a:pt x="1186" y="579"/>
                </a:lnTo>
                <a:lnTo>
                  <a:pt x="1198" y="583"/>
                </a:lnTo>
                <a:lnTo>
                  <a:pt x="1212" y="587"/>
                </a:lnTo>
                <a:lnTo>
                  <a:pt x="1228" y="589"/>
                </a:lnTo>
                <a:lnTo>
                  <a:pt x="1245" y="589"/>
                </a:lnTo>
                <a:lnTo>
                  <a:pt x="1265" y="589"/>
                </a:lnTo>
                <a:lnTo>
                  <a:pt x="1281" y="587"/>
                </a:lnTo>
                <a:lnTo>
                  <a:pt x="1295" y="585"/>
                </a:lnTo>
                <a:lnTo>
                  <a:pt x="1307" y="581"/>
                </a:lnTo>
                <a:lnTo>
                  <a:pt x="1314" y="577"/>
                </a:lnTo>
                <a:lnTo>
                  <a:pt x="1321" y="573"/>
                </a:lnTo>
                <a:lnTo>
                  <a:pt x="1328" y="568"/>
                </a:lnTo>
                <a:lnTo>
                  <a:pt x="1331" y="560"/>
                </a:lnTo>
                <a:lnTo>
                  <a:pt x="1330" y="583"/>
                </a:lnTo>
                <a:lnTo>
                  <a:pt x="1446" y="583"/>
                </a:lnTo>
                <a:lnTo>
                  <a:pt x="1498" y="121"/>
                </a:lnTo>
                <a:lnTo>
                  <a:pt x="1500" y="106"/>
                </a:lnTo>
                <a:lnTo>
                  <a:pt x="1500" y="90"/>
                </a:lnTo>
                <a:lnTo>
                  <a:pt x="1497" y="77"/>
                </a:lnTo>
                <a:lnTo>
                  <a:pt x="1495" y="63"/>
                </a:lnTo>
                <a:lnTo>
                  <a:pt x="1488" y="48"/>
                </a:lnTo>
                <a:lnTo>
                  <a:pt x="1477" y="36"/>
                </a:lnTo>
                <a:lnTo>
                  <a:pt x="1465" y="25"/>
                </a:lnTo>
                <a:lnTo>
                  <a:pt x="1451" y="17"/>
                </a:lnTo>
                <a:lnTo>
                  <a:pt x="1435" y="9"/>
                </a:lnTo>
                <a:lnTo>
                  <a:pt x="1414" y="4"/>
                </a:lnTo>
                <a:lnTo>
                  <a:pt x="1393" y="2"/>
                </a:lnTo>
                <a:lnTo>
                  <a:pt x="1368" y="0"/>
                </a:lnTo>
                <a:close/>
                <a:moveTo>
                  <a:pt x="1317" y="337"/>
                </a:moveTo>
                <a:lnTo>
                  <a:pt x="1330" y="331"/>
                </a:lnTo>
                <a:lnTo>
                  <a:pt x="1346" y="325"/>
                </a:lnTo>
                <a:lnTo>
                  <a:pt x="1328" y="473"/>
                </a:lnTo>
                <a:lnTo>
                  <a:pt x="1326" y="485"/>
                </a:lnTo>
                <a:lnTo>
                  <a:pt x="1323" y="493"/>
                </a:lnTo>
                <a:lnTo>
                  <a:pt x="1317" y="498"/>
                </a:lnTo>
                <a:lnTo>
                  <a:pt x="1310" y="500"/>
                </a:lnTo>
                <a:lnTo>
                  <a:pt x="1303" y="502"/>
                </a:lnTo>
                <a:lnTo>
                  <a:pt x="1298" y="500"/>
                </a:lnTo>
                <a:lnTo>
                  <a:pt x="1293" y="500"/>
                </a:lnTo>
                <a:lnTo>
                  <a:pt x="1289" y="498"/>
                </a:lnTo>
                <a:lnTo>
                  <a:pt x="1288" y="495"/>
                </a:lnTo>
                <a:lnTo>
                  <a:pt x="1284" y="491"/>
                </a:lnTo>
                <a:lnTo>
                  <a:pt x="1284" y="487"/>
                </a:lnTo>
                <a:lnTo>
                  <a:pt x="1282" y="481"/>
                </a:lnTo>
                <a:lnTo>
                  <a:pt x="1282" y="473"/>
                </a:lnTo>
                <a:lnTo>
                  <a:pt x="1295" y="369"/>
                </a:lnTo>
                <a:lnTo>
                  <a:pt x="1298" y="360"/>
                </a:lnTo>
                <a:lnTo>
                  <a:pt x="1302" y="350"/>
                </a:lnTo>
                <a:lnTo>
                  <a:pt x="1309" y="344"/>
                </a:lnTo>
                <a:lnTo>
                  <a:pt x="1317" y="337"/>
                </a:lnTo>
                <a:close/>
                <a:moveTo>
                  <a:pt x="833" y="50"/>
                </a:moveTo>
                <a:lnTo>
                  <a:pt x="824" y="38"/>
                </a:lnTo>
                <a:lnTo>
                  <a:pt x="813" y="29"/>
                </a:lnTo>
                <a:lnTo>
                  <a:pt x="801" y="19"/>
                </a:lnTo>
                <a:lnTo>
                  <a:pt x="787" y="13"/>
                </a:lnTo>
                <a:lnTo>
                  <a:pt x="769" y="7"/>
                </a:lnTo>
                <a:lnTo>
                  <a:pt x="750" y="4"/>
                </a:lnTo>
                <a:lnTo>
                  <a:pt x="729" y="2"/>
                </a:lnTo>
                <a:lnTo>
                  <a:pt x="704" y="0"/>
                </a:lnTo>
                <a:lnTo>
                  <a:pt x="690" y="0"/>
                </a:lnTo>
                <a:lnTo>
                  <a:pt x="674" y="2"/>
                </a:lnTo>
                <a:lnTo>
                  <a:pt x="659" y="4"/>
                </a:lnTo>
                <a:lnTo>
                  <a:pt x="643" y="7"/>
                </a:lnTo>
                <a:lnTo>
                  <a:pt x="630" y="9"/>
                </a:lnTo>
                <a:lnTo>
                  <a:pt x="616" y="15"/>
                </a:lnTo>
                <a:lnTo>
                  <a:pt x="606" y="21"/>
                </a:lnTo>
                <a:lnTo>
                  <a:pt x="594" y="27"/>
                </a:lnTo>
                <a:lnTo>
                  <a:pt x="585" y="34"/>
                </a:lnTo>
                <a:lnTo>
                  <a:pt x="576" y="42"/>
                </a:lnTo>
                <a:lnTo>
                  <a:pt x="567" y="50"/>
                </a:lnTo>
                <a:lnTo>
                  <a:pt x="560" y="59"/>
                </a:lnTo>
                <a:lnTo>
                  <a:pt x="555" y="71"/>
                </a:lnTo>
                <a:lnTo>
                  <a:pt x="550" y="82"/>
                </a:lnTo>
                <a:lnTo>
                  <a:pt x="544" y="94"/>
                </a:lnTo>
                <a:lnTo>
                  <a:pt x="543" y="108"/>
                </a:lnTo>
                <a:lnTo>
                  <a:pt x="539" y="121"/>
                </a:lnTo>
                <a:lnTo>
                  <a:pt x="499" y="469"/>
                </a:lnTo>
                <a:lnTo>
                  <a:pt x="497" y="483"/>
                </a:lnTo>
                <a:lnTo>
                  <a:pt x="497" y="498"/>
                </a:lnTo>
                <a:lnTo>
                  <a:pt x="499" y="512"/>
                </a:lnTo>
                <a:lnTo>
                  <a:pt x="502" y="525"/>
                </a:lnTo>
                <a:lnTo>
                  <a:pt x="509" y="541"/>
                </a:lnTo>
                <a:lnTo>
                  <a:pt x="518" y="554"/>
                </a:lnTo>
                <a:lnTo>
                  <a:pt x="530" y="564"/>
                </a:lnTo>
                <a:lnTo>
                  <a:pt x="546" y="573"/>
                </a:lnTo>
                <a:lnTo>
                  <a:pt x="564" y="581"/>
                </a:lnTo>
                <a:lnTo>
                  <a:pt x="585" y="585"/>
                </a:lnTo>
                <a:lnTo>
                  <a:pt x="608" y="589"/>
                </a:lnTo>
                <a:lnTo>
                  <a:pt x="634" y="589"/>
                </a:lnTo>
                <a:lnTo>
                  <a:pt x="666" y="589"/>
                </a:lnTo>
                <a:lnTo>
                  <a:pt x="694" y="585"/>
                </a:lnTo>
                <a:lnTo>
                  <a:pt x="720" y="577"/>
                </a:lnTo>
                <a:lnTo>
                  <a:pt x="732" y="573"/>
                </a:lnTo>
                <a:lnTo>
                  <a:pt x="743" y="568"/>
                </a:lnTo>
                <a:lnTo>
                  <a:pt x="752" y="560"/>
                </a:lnTo>
                <a:lnTo>
                  <a:pt x="760" y="554"/>
                </a:lnTo>
                <a:lnTo>
                  <a:pt x="769" y="546"/>
                </a:lnTo>
                <a:lnTo>
                  <a:pt x="776" y="539"/>
                </a:lnTo>
                <a:lnTo>
                  <a:pt x="782" y="529"/>
                </a:lnTo>
                <a:lnTo>
                  <a:pt x="787" y="520"/>
                </a:lnTo>
                <a:lnTo>
                  <a:pt x="792" y="508"/>
                </a:lnTo>
                <a:lnTo>
                  <a:pt x="796" y="498"/>
                </a:lnTo>
                <a:lnTo>
                  <a:pt x="799" y="485"/>
                </a:lnTo>
                <a:lnTo>
                  <a:pt x="801" y="473"/>
                </a:lnTo>
                <a:lnTo>
                  <a:pt x="815" y="356"/>
                </a:lnTo>
                <a:lnTo>
                  <a:pt x="685" y="356"/>
                </a:lnTo>
                <a:lnTo>
                  <a:pt x="671" y="479"/>
                </a:lnTo>
                <a:lnTo>
                  <a:pt x="667" y="489"/>
                </a:lnTo>
                <a:lnTo>
                  <a:pt x="662" y="496"/>
                </a:lnTo>
                <a:lnTo>
                  <a:pt x="655" y="500"/>
                </a:lnTo>
                <a:lnTo>
                  <a:pt x="646" y="502"/>
                </a:lnTo>
                <a:lnTo>
                  <a:pt x="641" y="502"/>
                </a:lnTo>
                <a:lnTo>
                  <a:pt x="636" y="500"/>
                </a:lnTo>
                <a:lnTo>
                  <a:pt x="632" y="498"/>
                </a:lnTo>
                <a:lnTo>
                  <a:pt x="630" y="495"/>
                </a:lnTo>
                <a:lnTo>
                  <a:pt x="629" y="491"/>
                </a:lnTo>
                <a:lnTo>
                  <a:pt x="627" y="485"/>
                </a:lnTo>
                <a:lnTo>
                  <a:pt x="627" y="479"/>
                </a:lnTo>
                <a:lnTo>
                  <a:pt x="627" y="473"/>
                </a:lnTo>
                <a:lnTo>
                  <a:pt x="643" y="337"/>
                </a:lnTo>
                <a:lnTo>
                  <a:pt x="817" y="337"/>
                </a:lnTo>
                <a:lnTo>
                  <a:pt x="843" y="117"/>
                </a:lnTo>
                <a:lnTo>
                  <a:pt x="845" y="98"/>
                </a:lnTo>
                <a:lnTo>
                  <a:pt x="843" y="79"/>
                </a:lnTo>
                <a:lnTo>
                  <a:pt x="840" y="63"/>
                </a:lnTo>
                <a:lnTo>
                  <a:pt x="833" y="50"/>
                </a:lnTo>
                <a:close/>
                <a:moveTo>
                  <a:pt x="695" y="90"/>
                </a:moveTo>
                <a:lnTo>
                  <a:pt x="701" y="90"/>
                </a:lnTo>
                <a:lnTo>
                  <a:pt x="704" y="92"/>
                </a:lnTo>
                <a:lnTo>
                  <a:pt x="708" y="94"/>
                </a:lnTo>
                <a:lnTo>
                  <a:pt x="711" y="98"/>
                </a:lnTo>
                <a:lnTo>
                  <a:pt x="713" y="102"/>
                </a:lnTo>
                <a:lnTo>
                  <a:pt x="713" y="106"/>
                </a:lnTo>
                <a:lnTo>
                  <a:pt x="715" y="111"/>
                </a:lnTo>
                <a:lnTo>
                  <a:pt x="713" y="119"/>
                </a:lnTo>
                <a:lnTo>
                  <a:pt x="699" y="252"/>
                </a:lnTo>
                <a:lnTo>
                  <a:pt x="653" y="252"/>
                </a:lnTo>
                <a:lnTo>
                  <a:pt x="669" y="119"/>
                </a:lnTo>
                <a:lnTo>
                  <a:pt x="671" y="108"/>
                </a:lnTo>
                <a:lnTo>
                  <a:pt x="674" y="100"/>
                </a:lnTo>
                <a:lnTo>
                  <a:pt x="680" y="94"/>
                </a:lnTo>
                <a:lnTo>
                  <a:pt x="687" y="92"/>
                </a:lnTo>
                <a:lnTo>
                  <a:pt x="695" y="90"/>
                </a:lnTo>
                <a:close/>
                <a:moveTo>
                  <a:pt x="1147" y="25"/>
                </a:moveTo>
                <a:lnTo>
                  <a:pt x="1128" y="13"/>
                </a:lnTo>
                <a:lnTo>
                  <a:pt x="1108" y="7"/>
                </a:lnTo>
                <a:lnTo>
                  <a:pt x="1089" y="2"/>
                </a:lnTo>
                <a:lnTo>
                  <a:pt x="1068" y="0"/>
                </a:lnTo>
                <a:lnTo>
                  <a:pt x="1052" y="2"/>
                </a:lnTo>
                <a:lnTo>
                  <a:pt x="1038" y="4"/>
                </a:lnTo>
                <a:lnTo>
                  <a:pt x="1024" y="7"/>
                </a:lnTo>
                <a:lnTo>
                  <a:pt x="1012" y="13"/>
                </a:lnTo>
                <a:lnTo>
                  <a:pt x="989" y="29"/>
                </a:lnTo>
                <a:lnTo>
                  <a:pt x="980" y="4"/>
                </a:lnTo>
                <a:lnTo>
                  <a:pt x="883" y="4"/>
                </a:lnTo>
                <a:lnTo>
                  <a:pt x="799" y="706"/>
                </a:lnTo>
                <a:lnTo>
                  <a:pt x="929" y="706"/>
                </a:lnTo>
                <a:lnTo>
                  <a:pt x="945" y="570"/>
                </a:lnTo>
                <a:lnTo>
                  <a:pt x="954" y="575"/>
                </a:lnTo>
                <a:lnTo>
                  <a:pt x="963" y="581"/>
                </a:lnTo>
                <a:lnTo>
                  <a:pt x="975" y="585"/>
                </a:lnTo>
                <a:lnTo>
                  <a:pt x="987" y="587"/>
                </a:lnTo>
                <a:lnTo>
                  <a:pt x="1024" y="589"/>
                </a:lnTo>
                <a:lnTo>
                  <a:pt x="1043" y="589"/>
                </a:lnTo>
                <a:lnTo>
                  <a:pt x="1061" y="585"/>
                </a:lnTo>
                <a:lnTo>
                  <a:pt x="1077" y="579"/>
                </a:lnTo>
                <a:lnTo>
                  <a:pt x="1093" y="570"/>
                </a:lnTo>
                <a:lnTo>
                  <a:pt x="1107" y="556"/>
                </a:lnTo>
                <a:lnTo>
                  <a:pt x="1115" y="543"/>
                </a:lnTo>
                <a:lnTo>
                  <a:pt x="1119" y="535"/>
                </a:lnTo>
                <a:lnTo>
                  <a:pt x="1122" y="527"/>
                </a:lnTo>
                <a:lnTo>
                  <a:pt x="1124" y="520"/>
                </a:lnTo>
                <a:lnTo>
                  <a:pt x="1126" y="510"/>
                </a:lnTo>
                <a:lnTo>
                  <a:pt x="1175" y="94"/>
                </a:lnTo>
                <a:lnTo>
                  <a:pt x="1177" y="84"/>
                </a:lnTo>
                <a:lnTo>
                  <a:pt x="1175" y="75"/>
                </a:lnTo>
                <a:lnTo>
                  <a:pt x="1175" y="65"/>
                </a:lnTo>
                <a:lnTo>
                  <a:pt x="1172" y="56"/>
                </a:lnTo>
                <a:lnTo>
                  <a:pt x="1168" y="48"/>
                </a:lnTo>
                <a:lnTo>
                  <a:pt x="1163" y="38"/>
                </a:lnTo>
                <a:lnTo>
                  <a:pt x="1156" y="32"/>
                </a:lnTo>
                <a:lnTo>
                  <a:pt x="1147" y="25"/>
                </a:lnTo>
                <a:close/>
                <a:moveTo>
                  <a:pt x="1008" y="94"/>
                </a:moveTo>
                <a:lnTo>
                  <a:pt x="1015" y="92"/>
                </a:lnTo>
                <a:lnTo>
                  <a:pt x="1024" y="90"/>
                </a:lnTo>
                <a:lnTo>
                  <a:pt x="1031" y="90"/>
                </a:lnTo>
                <a:lnTo>
                  <a:pt x="1035" y="92"/>
                </a:lnTo>
                <a:lnTo>
                  <a:pt x="1038" y="94"/>
                </a:lnTo>
                <a:lnTo>
                  <a:pt x="1042" y="96"/>
                </a:lnTo>
                <a:lnTo>
                  <a:pt x="1045" y="106"/>
                </a:lnTo>
                <a:lnTo>
                  <a:pt x="1045" y="117"/>
                </a:lnTo>
                <a:lnTo>
                  <a:pt x="1001" y="473"/>
                </a:lnTo>
                <a:lnTo>
                  <a:pt x="999" y="481"/>
                </a:lnTo>
                <a:lnTo>
                  <a:pt x="998" y="487"/>
                </a:lnTo>
                <a:lnTo>
                  <a:pt x="994" y="493"/>
                </a:lnTo>
                <a:lnTo>
                  <a:pt x="991" y="496"/>
                </a:lnTo>
                <a:lnTo>
                  <a:pt x="985" y="500"/>
                </a:lnTo>
                <a:lnTo>
                  <a:pt x="977" y="502"/>
                </a:lnTo>
                <a:lnTo>
                  <a:pt x="971" y="500"/>
                </a:lnTo>
                <a:lnTo>
                  <a:pt x="966" y="500"/>
                </a:lnTo>
                <a:lnTo>
                  <a:pt x="963" y="498"/>
                </a:lnTo>
                <a:lnTo>
                  <a:pt x="959" y="495"/>
                </a:lnTo>
                <a:lnTo>
                  <a:pt x="957" y="491"/>
                </a:lnTo>
                <a:lnTo>
                  <a:pt x="955" y="487"/>
                </a:lnTo>
                <a:lnTo>
                  <a:pt x="955" y="481"/>
                </a:lnTo>
                <a:lnTo>
                  <a:pt x="957" y="475"/>
                </a:lnTo>
                <a:lnTo>
                  <a:pt x="999" y="117"/>
                </a:lnTo>
                <a:lnTo>
                  <a:pt x="999" y="109"/>
                </a:lnTo>
                <a:lnTo>
                  <a:pt x="1001" y="104"/>
                </a:lnTo>
                <a:lnTo>
                  <a:pt x="1005" y="98"/>
                </a:lnTo>
                <a:lnTo>
                  <a:pt x="1008" y="94"/>
                </a:lnTo>
                <a:close/>
              </a:path>
            </a:pathLst>
          </a:custGeom>
          <a:gradFill rotWithShape="1">
            <a:gsLst>
              <a:gs pos="0">
                <a:srgbClr val="002C78"/>
              </a:gs>
              <a:gs pos="100000">
                <a:srgbClr val="002C78">
                  <a:gamma/>
                  <a:tint val="83922"/>
                  <a:invGamma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368300" y="6540500"/>
            <a:ext cx="2451100" cy="492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800" dirty="0">
                <a:solidFill>
                  <a:srgbClr val="AEAEAE"/>
                </a:solidFill>
                <a:latin typeface="Verdana" pitchFamily="34" charset="0"/>
              </a:rPr>
              <a:t>® 2007. EPAM Systems. All rights reserved.</a:t>
            </a:r>
          </a:p>
          <a:p>
            <a:pPr>
              <a:defRPr/>
            </a:pPr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474663" y="3559175"/>
            <a:ext cx="8032750" cy="989013"/>
          </a:xfrm>
          <a:ln w="9525"/>
        </p:spPr>
        <p:txBody>
          <a:bodyPr/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474663" y="4664075"/>
            <a:ext cx="7339012" cy="792163"/>
          </a:xfrm>
        </p:spPr>
        <p:txBody>
          <a:bodyPr/>
          <a:lstStyle>
            <a:lvl1pPr marL="0" indent="0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6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6820B-CC4A-491E-8F9E-100B75B675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8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6820B-CC4A-491E-8F9E-100B75B675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65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3075" y="1042988"/>
            <a:ext cx="4030663" cy="5135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138" y="1042988"/>
            <a:ext cx="4030662" cy="5135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6820B-CC4A-491E-8F9E-100B75B675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65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6820B-CC4A-491E-8F9E-100B75B675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99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6820B-CC4A-491E-8F9E-100B75B675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1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6820B-CC4A-491E-8F9E-100B75B675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01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6820B-CC4A-491E-8F9E-100B75B675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90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6820B-CC4A-491E-8F9E-100B75B675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6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6820B-CC4A-491E-8F9E-100B75B675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40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57163"/>
            <a:ext cx="2060575" cy="60213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57163"/>
            <a:ext cx="6030912" cy="60213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6820B-CC4A-491E-8F9E-100B75B675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0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88" y="0"/>
          <a:ext cx="91424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" name="Photo Editor Photo" r:id="rId14" imgW="9142857" imgH="743054" progId="">
                  <p:embed/>
                </p:oleObj>
              </mc:Choice>
              <mc:Fallback>
                <p:oleObj name="Photo Editor Photo" r:id="rId14" imgW="9142857" imgH="7430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0"/>
                        <a:ext cx="914241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57163"/>
            <a:ext cx="8226425" cy="3937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add title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461963" y="6451600"/>
            <a:ext cx="2357437" cy="166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r>
              <a:rPr lang="en-US" sz="800" dirty="0">
                <a:solidFill>
                  <a:srgbClr val="AEAEAE"/>
                </a:solidFill>
                <a:latin typeface="Verdana" pitchFamily="34" charset="0"/>
              </a:rPr>
              <a:t>® 2007. EPAM Systems. All rights reserved.</a:t>
            </a:r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011238" y="1690688"/>
            <a:ext cx="184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838200" y="1447800"/>
            <a:ext cx="750728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Verdana" pitchFamily="34" charset="0"/>
              <a:buNone/>
              <a:defRPr/>
            </a:pPr>
            <a:endParaRPr lang="en-US" b="1">
              <a:solidFill>
                <a:srgbClr val="002B78"/>
              </a:solidFill>
            </a:endParaRPr>
          </a:p>
        </p:txBody>
      </p:sp>
      <p:sp>
        <p:nvSpPr>
          <p:cNvPr id="103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3075" y="1042988"/>
            <a:ext cx="8213725" cy="513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add text</a:t>
            </a:r>
          </a:p>
        </p:txBody>
      </p:sp>
      <p:sp>
        <p:nvSpPr>
          <p:cNvPr id="5128" name="Freeform 8"/>
          <p:cNvSpPr>
            <a:spLocks noEditPoints="1"/>
          </p:cNvSpPr>
          <p:nvPr/>
        </p:nvSpPr>
        <p:spPr bwMode="auto">
          <a:xfrm>
            <a:off x="7688263" y="6410325"/>
            <a:ext cx="990600" cy="247650"/>
          </a:xfrm>
          <a:custGeom>
            <a:avLst/>
            <a:gdLst/>
            <a:ahLst/>
            <a:cxnLst>
              <a:cxn ang="0">
                <a:pos x="1997" y="570"/>
              </a:cxn>
              <a:cxn ang="0">
                <a:pos x="0" y="377"/>
              </a:cxn>
              <a:cxn ang="0">
                <a:pos x="1660" y="25"/>
              </a:cxn>
              <a:cxn ang="0">
                <a:pos x="1651" y="108"/>
              </a:cxn>
              <a:cxn ang="0">
                <a:pos x="1679" y="92"/>
              </a:cxn>
              <a:cxn ang="0">
                <a:pos x="1639" y="583"/>
              </a:cxn>
              <a:cxn ang="0">
                <a:pos x="1848" y="94"/>
              </a:cxn>
              <a:cxn ang="0">
                <a:pos x="1867" y="109"/>
              </a:cxn>
              <a:cxn ang="0">
                <a:pos x="2001" y="75"/>
              </a:cxn>
              <a:cxn ang="0">
                <a:pos x="1966" y="13"/>
              </a:cxn>
              <a:cxn ang="0">
                <a:pos x="1876" y="5"/>
              </a:cxn>
              <a:cxn ang="0">
                <a:pos x="1811" y="31"/>
              </a:cxn>
              <a:cxn ang="0">
                <a:pos x="1755" y="2"/>
              </a:cxn>
              <a:cxn ang="0">
                <a:pos x="1667" y="19"/>
              </a:cxn>
              <a:cxn ang="0">
                <a:pos x="1268" y="19"/>
              </a:cxn>
              <a:cxn ang="0">
                <a:pos x="1217" y="61"/>
              </a:cxn>
              <a:cxn ang="0">
                <a:pos x="1187" y="233"/>
              </a:cxn>
              <a:cxn ang="0">
                <a:pos x="1337" y="96"/>
              </a:cxn>
              <a:cxn ang="0">
                <a:pos x="1367" y="98"/>
              </a:cxn>
              <a:cxn ang="0">
                <a:pos x="1356" y="211"/>
              </a:cxn>
              <a:cxn ang="0">
                <a:pos x="1240" y="285"/>
              </a:cxn>
              <a:cxn ang="0">
                <a:pos x="1165" y="383"/>
              </a:cxn>
              <a:cxn ang="0">
                <a:pos x="1159" y="556"/>
              </a:cxn>
              <a:cxn ang="0">
                <a:pos x="1228" y="589"/>
              </a:cxn>
              <a:cxn ang="0">
                <a:pos x="1314" y="577"/>
              </a:cxn>
              <a:cxn ang="0">
                <a:pos x="1498" y="121"/>
              </a:cxn>
              <a:cxn ang="0">
                <a:pos x="1477" y="36"/>
              </a:cxn>
              <a:cxn ang="0">
                <a:pos x="1368" y="0"/>
              </a:cxn>
              <a:cxn ang="0">
                <a:pos x="1323" y="493"/>
              </a:cxn>
              <a:cxn ang="0">
                <a:pos x="1289" y="498"/>
              </a:cxn>
              <a:cxn ang="0">
                <a:pos x="1295" y="369"/>
              </a:cxn>
              <a:cxn ang="0">
                <a:pos x="824" y="38"/>
              </a:cxn>
              <a:cxn ang="0">
                <a:pos x="729" y="2"/>
              </a:cxn>
              <a:cxn ang="0">
                <a:pos x="630" y="9"/>
              </a:cxn>
              <a:cxn ang="0">
                <a:pos x="567" y="50"/>
              </a:cxn>
              <a:cxn ang="0">
                <a:pos x="539" y="121"/>
              </a:cxn>
              <a:cxn ang="0">
                <a:pos x="509" y="541"/>
              </a:cxn>
              <a:cxn ang="0">
                <a:pos x="608" y="589"/>
              </a:cxn>
              <a:cxn ang="0">
                <a:pos x="743" y="568"/>
              </a:cxn>
              <a:cxn ang="0">
                <a:pos x="787" y="520"/>
              </a:cxn>
              <a:cxn ang="0">
                <a:pos x="685" y="356"/>
              </a:cxn>
              <a:cxn ang="0">
                <a:pos x="641" y="502"/>
              </a:cxn>
              <a:cxn ang="0">
                <a:pos x="627" y="479"/>
              </a:cxn>
              <a:cxn ang="0">
                <a:pos x="843" y="79"/>
              </a:cxn>
              <a:cxn ang="0">
                <a:pos x="708" y="94"/>
              </a:cxn>
              <a:cxn ang="0">
                <a:pos x="699" y="252"/>
              </a:cxn>
              <a:cxn ang="0">
                <a:pos x="687" y="92"/>
              </a:cxn>
              <a:cxn ang="0">
                <a:pos x="1068" y="0"/>
              </a:cxn>
              <a:cxn ang="0">
                <a:pos x="980" y="4"/>
              </a:cxn>
              <a:cxn ang="0">
                <a:pos x="963" y="581"/>
              </a:cxn>
              <a:cxn ang="0">
                <a:pos x="1077" y="579"/>
              </a:cxn>
              <a:cxn ang="0">
                <a:pos x="1124" y="520"/>
              </a:cxn>
              <a:cxn ang="0">
                <a:pos x="1172" y="56"/>
              </a:cxn>
              <a:cxn ang="0">
                <a:pos x="1015" y="92"/>
              </a:cxn>
              <a:cxn ang="0">
                <a:pos x="1045" y="106"/>
              </a:cxn>
              <a:cxn ang="0">
                <a:pos x="991" y="496"/>
              </a:cxn>
              <a:cxn ang="0">
                <a:pos x="959" y="495"/>
              </a:cxn>
              <a:cxn ang="0">
                <a:pos x="999" y="109"/>
              </a:cxn>
            </a:cxnLst>
            <a:rect l="0" t="0" r="r" b="b"/>
            <a:pathLst>
              <a:path w="2496" h="706">
                <a:moveTo>
                  <a:pt x="2029" y="56"/>
                </a:moveTo>
                <a:lnTo>
                  <a:pt x="2020" y="177"/>
                </a:lnTo>
                <a:lnTo>
                  <a:pt x="2349" y="314"/>
                </a:lnTo>
                <a:lnTo>
                  <a:pt x="1999" y="450"/>
                </a:lnTo>
                <a:lnTo>
                  <a:pt x="1990" y="573"/>
                </a:lnTo>
                <a:lnTo>
                  <a:pt x="1997" y="570"/>
                </a:lnTo>
                <a:lnTo>
                  <a:pt x="2496" y="373"/>
                </a:lnTo>
                <a:lnTo>
                  <a:pt x="2496" y="248"/>
                </a:lnTo>
                <a:lnTo>
                  <a:pt x="2029" y="56"/>
                </a:lnTo>
                <a:close/>
                <a:moveTo>
                  <a:pt x="506" y="56"/>
                </a:moveTo>
                <a:lnTo>
                  <a:pt x="0" y="252"/>
                </a:lnTo>
                <a:lnTo>
                  <a:pt x="0" y="377"/>
                </a:lnTo>
                <a:lnTo>
                  <a:pt x="467" y="573"/>
                </a:lnTo>
                <a:lnTo>
                  <a:pt x="476" y="450"/>
                </a:lnTo>
                <a:lnTo>
                  <a:pt x="146" y="314"/>
                </a:lnTo>
                <a:lnTo>
                  <a:pt x="497" y="177"/>
                </a:lnTo>
                <a:lnTo>
                  <a:pt x="506" y="56"/>
                </a:lnTo>
                <a:close/>
                <a:moveTo>
                  <a:pt x="1660" y="25"/>
                </a:moveTo>
                <a:lnTo>
                  <a:pt x="1662" y="4"/>
                </a:lnTo>
                <a:lnTo>
                  <a:pt x="1533" y="4"/>
                </a:lnTo>
                <a:lnTo>
                  <a:pt x="1465" y="583"/>
                </a:lnTo>
                <a:lnTo>
                  <a:pt x="1593" y="583"/>
                </a:lnTo>
                <a:lnTo>
                  <a:pt x="1649" y="119"/>
                </a:lnTo>
                <a:lnTo>
                  <a:pt x="1651" y="108"/>
                </a:lnTo>
                <a:lnTo>
                  <a:pt x="1656" y="100"/>
                </a:lnTo>
                <a:lnTo>
                  <a:pt x="1660" y="96"/>
                </a:lnTo>
                <a:lnTo>
                  <a:pt x="1663" y="94"/>
                </a:lnTo>
                <a:lnTo>
                  <a:pt x="1669" y="92"/>
                </a:lnTo>
                <a:lnTo>
                  <a:pt x="1674" y="92"/>
                </a:lnTo>
                <a:lnTo>
                  <a:pt x="1679" y="92"/>
                </a:lnTo>
                <a:lnTo>
                  <a:pt x="1683" y="94"/>
                </a:lnTo>
                <a:lnTo>
                  <a:pt x="1688" y="96"/>
                </a:lnTo>
                <a:lnTo>
                  <a:pt x="1690" y="100"/>
                </a:lnTo>
                <a:lnTo>
                  <a:pt x="1693" y="108"/>
                </a:lnTo>
                <a:lnTo>
                  <a:pt x="1695" y="119"/>
                </a:lnTo>
                <a:lnTo>
                  <a:pt x="1639" y="583"/>
                </a:lnTo>
                <a:lnTo>
                  <a:pt x="1767" y="583"/>
                </a:lnTo>
                <a:lnTo>
                  <a:pt x="1823" y="119"/>
                </a:lnTo>
                <a:lnTo>
                  <a:pt x="1825" y="109"/>
                </a:lnTo>
                <a:lnTo>
                  <a:pt x="1830" y="102"/>
                </a:lnTo>
                <a:lnTo>
                  <a:pt x="1837" y="96"/>
                </a:lnTo>
                <a:lnTo>
                  <a:pt x="1848" y="94"/>
                </a:lnTo>
                <a:lnTo>
                  <a:pt x="1853" y="96"/>
                </a:lnTo>
                <a:lnTo>
                  <a:pt x="1858" y="96"/>
                </a:lnTo>
                <a:lnTo>
                  <a:pt x="1862" y="98"/>
                </a:lnTo>
                <a:lnTo>
                  <a:pt x="1864" y="102"/>
                </a:lnTo>
                <a:lnTo>
                  <a:pt x="1866" y="104"/>
                </a:lnTo>
                <a:lnTo>
                  <a:pt x="1867" y="109"/>
                </a:lnTo>
                <a:lnTo>
                  <a:pt x="1867" y="115"/>
                </a:lnTo>
                <a:lnTo>
                  <a:pt x="1867" y="121"/>
                </a:lnTo>
                <a:lnTo>
                  <a:pt x="1813" y="583"/>
                </a:lnTo>
                <a:lnTo>
                  <a:pt x="1943" y="583"/>
                </a:lnTo>
                <a:lnTo>
                  <a:pt x="2001" y="82"/>
                </a:lnTo>
                <a:lnTo>
                  <a:pt x="2001" y="75"/>
                </a:lnTo>
                <a:lnTo>
                  <a:pt x="2001" y="65"/>
                </a:lnTo>
                <a:lnTo>
                  <a:pt x="1999" y="56"/>
                </a:lnTo>
                <a:lnTo>
                  <a:pt x="1997" y="48"/>
                </a:lnTo>
                <a:lnTo>
                  <a:pt x="1988" y="32"/>
                </a:lnTo>
                <a:lnTo>
                  <a:pt x="1978" y="23"/>
                </a:lnTo>
                <a:lnTo>
                  <a:pt x="1966" y="13"/>
                </a:lnTo>
                <a:lnTo>
                  <a:pt x="1950" y="5"/>
                </a:lnTo>
                <a:lnTo>
                  <a:pt x="1934" y="2"/>
                </a:lnTo>
                <a:lnTo>
                  <a:pt x="1918" y="0"/>
                </a:lnTo>
                <a:lnTo>
                  <a:pt x="1902" y="2"/>
                </a:lnTo>
                <a:lnTo>
                  <a:pt x="1890" y="4"/>
                </a:lnTo>
                <a:lnTo>
                  <a:pt x="1876" y="5"/>
                </a:lnTo>
                <a:lnTo>
                  <a:pt x="1864" y="9"/>
                </a:lnTo>
                <a:lnTo>
                  <a:pt x="1851" y="15"/>
                </a:lnTo>
                <a:lnTo>
                  <a:pt x="1841" y="23"/>
                </a:lnTo>
                <a:lnTo>
                  <a:pt x="1830" y="31"/>
                </a:lnTo>
                <a:lnTo>
                  <a:pt x="1820" y="40"/>
                </a:lnTo>
                <a:lnTo>
                  <a:pt x="1811" y="31"/>
                </a:lnTo>
                <a:lnTo>
                  <a:pt x="1804" y="23"/>
                </a:lnTo>
                <a:lnTo>
                  <a:pt x="1795" y="15"/>
                </a:lnTo>
                <a:lnTo>
                  <a:pt x="1785" y="9"/>
                </a:lnTo>
                <a:lnTo>
                  <a:pt x="1776" y="5"/>
                </a:lnTo>
                <a:lnTo>
                  <a:pt x="1765" y="4"/>
                </a:lnTo>
                <a:lnTo>
                  <a:pt x="1755" y="2"/>
                </a:lnTo>
                <a:lnTo>
                  <a:pt x="1743" y="0"/>
                </a:lnTo>
                <a:lnTo>
                  <a:pt x="1718" y="2"/>
                </a:lnTo>
                <a:lnTo>
                  <a:pt x="1695" y="7"/>
                </a:lnTo>
                <a:lnTo>
                  <a:pt x="1686" y="9"/>
                </a:lnTo>
                <a:lnTo>
                  <a:pt x="1676" y="13"/>
                </a:lnTo>
                <a:lnTo>
                  <a:pt x="1667" y="19"/>
                </a:lnTo>
                <a:lnTo>
                  <a:pt x="1660" y="25"/>
                </a:lnTo>
                <a:close/>
                <a:moveTo>
                  <a:pt x="1368" y="0"/>
                </a:moveTo>
                <a:lnTo>
                  <a:pt x="1331" y="2"/>
                </a:lnTo>
                <a:lnTo>
                  <a:pt x="1303" y="7"/>
                </a:lnTo>
                <a:lnTo>
                  <a:pt x="1279" y="13"/>
                </a:lnTo>
                <a:lnTo>
                  <a:pt x="1268" y="19"/>
                </a:lnTo>
                <a:lnTo>
                  <a:pt x="1258" y="25"/>
                </a:lnTo>
                <a:lnTo>
                  <a:pt x="1247" y="31"/>
                </a:lnTo>
                <a:lnTo>
                  <a:pt x="1238" y="38"/>
                </a:lnTo>
                <a:lnTo>
                  <a:pt x="1231" y="46"/>
                </a:lnTo>
                <a:lnTo>
                  <a:pt x="1224" y="54"/>
                </a:lnTo>
                <a:lnTo>
                  <a:pt x="1217" y="61"/>
                </a:lnTo>
                <a:lnTo>
                  <a:pt x="1212" y="71"/>
                </a:lnTo>
                <a:lnTo>
                  <a:pt x="1208" y="82"/>
                </a:lnTo>
                <a:lnTo>
                  <a:pt x="1205" y="94"/>
                </a:lnTo>
                <a:lnTo>
                  <a:pt x="1201" y="106"/>
                </a:lnTo>
                <a:lnTo>
                  <a:pt x="1200" y="117"/>
                </a:lnTo>
                <a:lnTo>
                  <a:pt x="1187" y="233"/>
                </a:lnTo>
                <a:lnTo>
                  <a:pt x="1312" y="233"/>
                </a:lnTo>
                <a:lnTo>
                  <a:pt x="1317" y="160"/>
                </a:lnTo>
                <a:lnTo>
                  <a:pt x="1321" y="134"/>
                </a:lnTo>
                <a:lnTo>
                  <a:pt x="1326" y="115"/>
                </a:lnTo>
                <a:lnTo>
                  <a:pt x="1331" y="104"/>
                </a:lnTo>
                <a:lnTo>
                  <a:pt x="1337" y="96"/>
                </a:lnTo>
                <a:lnTo>
                  <a:pt x="1344" y="92"/>
                </a:lnTo>
                <a:lnTo>
                  <a:pt x="1351" y="90"/>
                </a:lnTo>
                <a:lnTo>
                  <a:pt x="1356" y="90"/>
                </a:lnTo>
                <a:lnTo>
                  <a:pt x="1361" y="92"/>
                </a:lnTo>
                <a:lnTo>
                  <a:pt x="1365" y="94"/>
                </a:lnTo>
                <a:lnTo>
                  <a:pt x="1367" y="98"/>
                </a:lnTo>
                <a:lnTo>
                  <a:pt x="1368" y="102"/>
                </a:lnTo>
                <a:lnTo>
                  <a:pt x="1370" y="106"/>
                </a:lnTo>
                <a:lnTo>
                  <a:pt x="1370" y="111"/>
                </a:lnTo>
                <a:lnTo>
                  <a:pt x="1370" y="119"/>
                </a:lnTo>
                <a:lnTo>
                  <a:pt x="1360" y="204"/>
                </a:lnTo>
                <a:lnTo>
                  <a:pt x="1356" y="211"/>
                </a:lnTo>
                <a:lnTo>
                  <a:pt x="1349" y="219"/>
                </a:lnTo>
                <a:lnTo>
                  <a:pt x="1337" y="227"/>
                </a:lnTo>
                <a:lnTo>
                  <a:pt x="1321" y="237"/>
                </a:lnTo>
                <a:lnTo>
                  <a:pt x="1309" y="242"/>
                </a:lnTo>
                <a:lnTo>
                  <a:pt x="1272" y="265"/>
                </a:lnTo>
                <a:lnTo>
                  <a:pt x="1240" y="285"/>
                </a:lnTo>
                <a:lnTo>
                  <a:pt x="1215" y="300"/>
                </a:lnTo>
                <a:lnTo>
                  <a:pt x="1198" y="315"/>
                </a:lnTo>
                <a:lnTo>
                  <a:pt x="1184" y="331"/>
                </a:lnTo>
                <a:lnTo>
                  <a:pt x="1175" y="348"/>
                </a:lnTo>
                <a:lnTo>
                  <a:pt x="1168" y="366"/>
                </a:lnTo>
                <a:lnTo>
                  <a:pt x="1165" y="383"/>
                </a:lnTo>
                <a:lnTo>
                  <a:pt x="1150" y="498"/>
                </a:lnTo>
                <a:lnTo>
                  <a:pt x="1149" y="512"/>
                </a:lnTo>
                <a:lnTo>
                  <a:pt x="1149" y="523"/>
                </a:lnTo>
                <a:lnTo>
                  <a:pt x="1152" y="535"/>
                </a:lnTo>
                <a:lnTo>
                  <a:pt x="1154" y="546"/>
                </a:lnTo>
                <a:lnTo>
                  <a:pt x="1159" y="556"/>
                </a:lnTo>
                <a:lnTo>
                  <a:pt x="1166" y="566"/>
                </a:lnTo>
                <a:lnTo>
                  <a:pt x="1175" y="573"/>
                </a:lnTo>
                <a:lnTo>
                  <a:pt x="1186" y="579"/>
                </a:lnTo>
                <a:lnTo>
                  <a:pt x="1198" y="583"/>
                </a:lnTo>
                <a:lnTo>
                  <a:pt x="1212" y="587"/>
                </a:lnTo>
                <a:lnTo>
                  <a:pt x="1228" y="589"/>
                </a:lnTo>
                <a:lnTo>
                  <a:pt x="1245" y="589"/>
                </a:lnTo>
                <a:lnTo>
                  <a:pt x="1265" y="589"/>
                </a:lnTo>
                <a:lnTo>
                  <a:pt x="1281" y="587"/>
                </a:lnTo>
                <a:lnTo>
                  <a:pt x="1295" y="585"/>
                </a:lnTo>
                <a:lnTo>
                  <a:pt x="1307" y="581"/>
                </a:lnTo>
                <a:lnTo>
                  <a:pt x="1314" y="577"/>
                </a:lnTo>
                <a:lnTo>
                  <a:pt x="1321" y="573"/>
                </a:lnTo>
                <a:lnTo>
                  <a:pt x="1328" y="568"/>
                </a:lnTo>
                <a:lnTo>
                  <a:pt x="1331" y="560"/>
                </a:lnTo>
                <a:lnTo>
                  <a:pt x="1330" y="583"/>
                </a:lnTo>
                <a:lnTo>
                  <a:pt x="1446" y="583"/>
                </a:lnTo>
                <a:lnTo>
                  <a:pt x="1498" y="121"/>
                </a:lnTo>
                <a:lnTo>
                  <a:pt x="1500" y="106"/>
                </a:lnTo>
                <a:lnTo>
                  <a:pt x="1500" y="90"/>
                </a:lnTo>
                <a:lnTo>
                  <a:pt x="1497" y="77"/>
                </a:lnTo>
                <a:lnTo>
                  <a:pt x="1495" y="63"/>
                </a:lnTo>
                <a:lnTo>
                  <a:pt x="1488" y="48"/>
                </a:lnTo>
                <a:lnTo>
                  <a:pt x="1477" y="36"/>
                </a:lnTo>
                <a:lnTo>
                  <a:pt x="1465" y="25"/>
                </a:lnTo>
                <a:lnTo>
                  <a:pt x="1451" y="17"/>
                </a:lnTo>
                <a:lnTo>
                  <a:pt x="1435" y="9"/>
                </a:lnTo>
                <a:lnTo>
                  <a:pt x="1414" y="4"/>
                </a:lnTo>
                <a:lnTo>
                  <a:pt x="1393" y="2"/>
                </a:lnTo>
                <a:lnTo>
                  <a:pt x="1368" y="0"/>
                </a:lnTo>
                <a:close/>
                <a:moveTo>
                  <a:pt x="1317" y="337"/>
                </a:moveTo>
                <a:lnTo>
                  <a:pt x="1330" y="331"/>
                </a:lnTo>
                <a:lnTo>
                  <a:pt x="1346" y="325"/>
                </a:lnTo>
                <a:lnTo>
                  <a:pt x="1328" y="473"/>
                </a:lnTo>
                <a:lnTo>
                  <a:pt x="1326" y="485"/>
                </a:lnTo>
                <a:lnTo>
                  <a:pt x="1323" y="493"/>
                </a:lnTo>
                <a:lnTo>
                  <a:pt x="1317" y="498"/>
                </a:lnTo>
                <a:lnTo>
                  <a:pt x="1310" y="500"/>
                </a:lnTo>
                <a:lnTo>
                  <a:pt x="1303" y="502"/>
                </a:lnTo>
                <a:lnTo>
                  <a:pt x="1298" y="500"/>
                </a:lnTo>
                <a:lnTo>
                  <a:pt x="1293" y="500"/>
                </a:lnTo>
                <a:lnTo>
                  <a:pt x="1289" y="498"/>
                </a:lnTo>
                <a:lnTo>
                  <a:pt x="1288" y="495"/>
                </a:lnTo>
                <a:lnTo>
                  <a:pt x="1284" y="491"/>
                </a:lnTo>
                <a:lnTo>
                  <a:pt x="1284" y="487"/>
                </a:lnTo>
                <a:lnTo>
                  <a:pt x="1282" y="481"/>
                </a:lnTo>
                <a:lnTo>
                  <a:pt x="1282" y="473"/>
                </a:lnTo>
                <a:lnTo>
                  <a:pt x="1295" y="369"/>
                </a:lnTo>
                <a:lnTo>
                  <a:pt x="1298" y="360"/>
                </a:lnTo>
                <a:lnTo>
                  <a:pt x="1302" y="350"/>
                </a:lnTo>
                <a:lnTo>
                  <a:pt x="1309" y="344"/>
                </a:lnTo>
                <a:lnTo>
                  <a:pt x="1317" y="337"/>
                </a:lnTo>
                <a:close/>
                <a:moveTo>
                  <a:pt x="833" y="50"/>
                </a:moveTo>
                <a:lnTo>
                  <a:pt x="824" y="38"/>
                </a:lnTo>
                <a:lnTo>
                  <a:pt x="813" y="29"/>
                </a:lnTo>
                <a:lnTo>
                  <a:pt x="801" y="19"/>
                </a:lnTo>
                <a:lnTo>
                  <a:pt x="787" y="13"/>
                </a:lnTo>
                <a:lnTo>
                  <a:pt x="769" y="7"/>
                </a:lnTo>
                <a:lnTo>
                  <a:pt x="750" y="4"/>
                </a:lnTo>
                <a:lnTo>
                  <a:pt x="729" y="2"/>
                </a:lnTo>
                <a:lnTo>
                  <a:pt x="704" y="0"/>
                </a:lnTo>
                <a:lnTo>
                  <a:pt x="690" y="0"/>
                </a:lnTo>
                <a:lnTo>
                  <a:pt x="674" y="2"/>
                </a:lnTo>
                <a:lnTo>
                  <a:pt x="659" y="4"/>
                </a:lnTo>
                <a:lnTo>
                  <a:pt x="643" y="7"/>
                </a:lnTo>
                <a:lnTo>
                  <a:pt x="630" y="9"/>
                </a:lnTo>
                <a:lnTo>
                  <a:pt x="616" y="15"/>
                </a:lnTo>
                <a:lnTo>
                  <a:pt x="606" y="21"/>
                </a:lnTo>
                <a:lnTo>
                  <a:pt x="594" y="27"/>
                </a:lnTo>
                <a:lnTo>
                  <a:pt x="585" y="34"/>
                </a:lnTo>
                <a:lnTo>
                  <a:pt x="576" y="42"/>
                </a:lnTo>
                <a:lnTo>
                  <a:pt x="567" y="50"/>
                </a:lnTo>
                <a:lnTo>
                  <a:pt x="560" y="59"/>
                </a:lnTo>
                <a:lnTo>
                  <a:pt x="555" y="71"/>
                </a:lnTo>
                <a:lnTo>
                  <a:pt x="550" y="82"/>
                </a:lnTo>
                <a:lnTo>
                  <a:pt x="544" y="94"/>
                </a:lnTo>
                <a:lnTo>
                  <a:pt x="543" y="108"/>
                </a:lnTo>
                <a:lnTo>
                  <a:pt x="539" y="121"/>
                </a:lnTo>
                <a:lnTo>
                  <a:pt x="499" y="469"/>
                </a:lnTo>
                <a:lnTo>
                  <a:pt x="497" y="483"/>
                </a:lnTo>
                <a:lnTo>
                  <a:pt x="497" y="498"/>
                </a:lnTo>
                <a:lnTo>
                  <a:pt x="499" y="512"/>
                </a:lnTo>
                <a:lnTo>
                  <a:pt x="502" y="525"/>
                </a:lnTo>
                <a:lnTo>
                  <a:pt x="509" y="541"/>
                </a:lnTo>
                <a:lnTo>
                  <a:pt x="518" y="554"/>
                </a:lnTo>
                <a:lnTo>
                  <a:pt x="530" y="564"/>
                </a:lnTo>
                <a:lnTo>
                  <a:pt x="546" y="573"/>
                </a:lnTo>
                <a:lnTo>
                  <a:pt x="564" y="581"/>
                </a:lnTo>
                <a:lnTo>
                  <a:pt x="585" y="585"/>
                </a:lnTo>
                <a:lnTo>
                  <a:pt x="608" y="589"/>
                </a:lnTo>
                <a:lnTo>
                  <a:pt x="634" y="589"/>
                </a:lnTo>
                <a:lnTo>
                  <a:pt x="666" y="589"/>
                </a:lnTo>
                <a:lnTo>
                  <a:pt x="694" y="585"/>
                </a:lnTo>
                <a:lnTo>
                  <a:pt x="720" y="577"/>
                </a:lnTo>
                <a:lnTo>
                  <a:pt x="732" y="573"/>
                </a:lnTo>
                <a:lnTo>
                  <a:pt x="743" y="568"/>
                </a:lnTo>
                <a:lnTo>
                  <a:pt x="752" y="560"/>
                </a:lnTo>
                <a:lnTo>
                  <a:pt x="760" y="554"/>
                </a:lnTo>
                <a:lnTo>
                  <a:pt x="769" y="546"/>
                </a:lnTo>
                <a:lnTo>
                  <a:pt x="776" y="539"/>
                </a:lnTo>
                <a:lnTo>
                  <a:pt x="782" y="529"/>
                </a:lnTo>
                <a:lnTo>
                  <a:pt x="787" y="520"/>
                </a:lnTo>
                <a:lnTo>
                  <a:pt x="792" y="508"/>
                </a:lnTo>
                <a:lnTo>
                  <a:pt x="796" y="498"/>
                </a:lnTo>
                <a:lnTo>
                  <a:pt x="799" y="485"/>
                </a:lnTo>
                <a:lnTo>
                  <a:pt x="801" y="473"/>
                </a:lnTo>
                <a:lnTo>
                  <a:pt x="815" y="356"/>
                </a:lnTo>
                <a:lnTo>
                  <a:pt x="685" y="356"/>
                </a:lnTo>
                <a:lnTo>
                  <a:pt x="671" y="479"/>
                </a:lnTo>
                <a:lnTo>
                  <a:pt x="667" y="489"/>
                </a:lnTo>
                <a:lnTo>
                  <a:pt x="662" y="496"/>
                </a:lnTo>
                <a:lnTo>
                  <a:pt x="655" y="500"/>
                </a:lnTo>
                <a:lnTo>
                  <a:pt x="646" y="502"/>
                </a:lnTo>
                <a:lnTo>
                  <a:pt x="641" y="502"/>
                </a:lnTo>
                <a:lnTo>
                  <a:pt x="636" y="500"/>
                </a:lnTo>
                <a:lnTo>
                  <a:pt x="632" y="498"/>
                </a:lnTo>
                <a:lnTo>
                  <a:pt x="630" y="495"/>
                </a:lnTo>
                <a:lnTo>
                  <a:pt x="629" y="491"/>
                </a:lnTo>
                <a:lnTo>
                  <a:pt x="627" y="485"/>
                </a:lnTo>
                <a:lnTo>
                  <a:pt x="627" y="479"/>
                </a:lnTo>
                <a:lnTo>
                  <a:pt x="627" y="473"/>
                </a:lnTo>
                <a:lnTo>
                  <a:pt x="643" y="337"/>
                </a:lnTo>
                <a:lnTo>
                  <a:pt x="817" y="337"/>
                </a:lnTo>
                <a:lnTo>
                  <a:pt x="843" y="117"/>
                </a:lnTo>
                <a:lnTo>
                  <a:pt x="845" y="98"/>
                </a:lnTo>
                <a:lnTo>
                  <a:pt x="843" y="79"/>
                </a:lnTo>
                <a:lnTo>
                  <a:pt x="840" y="63"/>
                </a:lnTo>
                <a:lnTo>
                  <a:pt x="833" y="50"/>
                </a:lnTo>
                <a:close/>
                <a:moveTo>
                  <a:pt x="695" y="90"/>
                </a:moveTo>
                <a:lnTo>
                  <a:pt x="701" y="90"/>
                </a:lnTo>
                <a:lnTo>
                  <a:pt x="704" y="92"/>
                </a:lnTo>
                <a:lnTo>
                  <a:pt x="708" y="94"/>
                </a:lnTo>
                <a:lnTo>
                  <a:pt x="711" y="98"/>
                </a:lnTo>
                <a:lnTo>
                  <a:pt x="713" y="102"/>
                </a:lnTo>
                <a:lnTo>
                  <a:pt x="713" y="106"/>
                </a:lnTo>
                <a:lnTo>
                  <a:pt x="715" y="111"/>
                </a:lnTo>
                <a:lnTo>
                  <a:pt x="713" y="119"/>
                </a:lnTo>
                <a:lnTo>
                  <a:pt x="699" y="252"/>
                </a:lnTo>
                <a:lnTo>
                  <a:pt x="653" y="252"/>
                </a:lnTo>
                <a:lnTo>
                  <a:pt x="669" y="119"/>
                </a:lnTo>
                <a:lnTo>
                  <a:pt x="671" y="108"/>
                </a:lnTo>
                <a:lnTo>
                  <a:pt x="674" y="100"/>
                </a:lnTo>
                <a:lnTo>
                  <a:pt x="680" y="94"/>
                </a:lnTo>
                <a:lnTo>
                  <a:pt x="687" y="92"/>
                </a:lnTo>
                <a:lnTo>
                  <a:pt x="695" y="90"/>
                </a:lnTo>
                <a:close/>
                <a:moveTo>
                  <a:pt x="1147" y="25"/>
                </a:moveTo>
                <a:lnTo>
                  <a:pt x="1128" y="13"/>
                </a:lnTo>
                <a:lnTo>
                  <a:pt x="1108" y="7"/>
                </a:lnTo>
                <a:lnTo>
                  <a:pt x="1089" y="2"/>
                </a:lnTo>
                <a:lnTo>
                  <a:pt x="1068" y="0"/>
                </a:lnTo>
                <a:lnTo>
                  <a:pt x="1052" y="2"/>
                </a:lnTo>
                <a:lnTo>
                  <a:pt x="1038" y="4"/>
                </a:lnTo>
                <a:lnTo>
                  <a:pt x="1024" y="7"/>
                </a:lnTo>
                <a:lnTo>
                  <a:pt x="1012" y="13"/>
                </a:lnTo>
                <a:lnTo>
                  <a:pt x="989" y="29"/>
                </a:lnTo>
                <a:lnTo>
                  <a:pt x="980" y="4"/>
                </a:lnTo>
                <a:lnTo>
                  <a:pt x="883" y="4"/>
                </a:lnTo>
                <a:lnTo>
                  <a:pt x="799" y="706"/>
                </a:lnTo>
                <a:lnTo>
                  <a:pt x="929" y="706"/>
                </a:lnTo>
                <a:lnTo>
                  <a:pt x="945" y="570"/>
                </a:lnTo>
                <a:lnTo>
                  <a:pt x="954" y="575"/>
                </a:lnTo>
                <a:lnTo>
                  <a:pt x="963" y="581"/>
                </a:lnTo>
                <a:lnTo>
                  <a:pt x="975" y="585"/>
                </a:lnTo>
                <a:lnTo>
                  <a:pt x="987" y="587"/>
                </a:lnTo>
                <a:lnTo>
                  <a:pt x="1024" y="589"/>
                </a:lnTo>
                <a:lnTo>
                  <a:pt x="1043" y="589"/>
                </a:lnTo>
                <a:lnTo>
                  <a:pt x="1061" y="585"/>
                </a:lnTo>
                <a:lnTo>
                  <a:pt x="1077" y="579"/>
                </a:lnTo>
                <a:lnTo>
                  <a:pt x="1093" y="570"/>
                </a:lnTo>
                <a:lnTo>
                  <a:pt x="1107" y="556"/>
                </a:lnTo>
                <a:lnTo>
                  <a:pt x="1115" y="543"/>
                </a:lnTo>
                <a:lnTo>
                  <a:pt x="1119" y="535"/>
                </a:lnTo>
                <a:lnTo>
                  <a:pt x="1122" y="527"/>
                </a:lnTo>
                <a:lnTo>
                  <a:pt x="1124" y="520"/>
                </a:lnTo>
                <a:lnTo>
                  <a:pt x="1126" y="510"/>
                </a:lnTo>
                <a:lnTo>
                  <a:pt x="1175" y="94"/>
                </a:lnTo>
                <a:lnTo>
                  <a:pt x="1177" y="84"/>
                </a:lnTo>
                <a:lnTo>
                  <a:pt x="1175" y="75"/>
                </a:lnTo>
                <a:lnTo>
                  <a:pt x="1175" y="65"/>
                </a:lnTo>
                <a:lnTo>
                  <a:pt x="1172" y="56"/>
                </a:lnTo>
                <a:lnTo>
                  <a:pt x="1168" y="48"/>
                </a:lnTo>
                <a:lnTo>
                  <a:pt x="1163" y="38"/>
                </a:lnTo>
                <a:lnTo>
                  <a:pt x="1156" y="32"/>
                </a:lnTo>
                <a:lnTo>
                  <a:pt x="1147" y="25"/>
                </a:lnTo>
                <a:close/>
                <a:moveTo>
                  <a:pt x="1008" y="94"/>
                </a:moveTo>
                <a:lnTo>
                  <a:pt x="1015" y="92"/>
                </a:lnTo>
                <a:lnTo>
                  <a:pt x="1024" y="90"/>
                </a:lnTo>
                <a:lnTo>
                  <a:pt x="1031" y="90"/>
                </a:lnTo>
                <a:lnTo>
                  <a:pt x="1035" y="92"/>
                </a:lnTo>
                <a:lnTo>
                  <a:pt x="1038" y="94"/>
                </a:lnTo>
                <a:lnTo>
                  <a:pt x="1042" y="96"/>
                </a:lnTo>
                <a:lnTo>
                  <a:pt x="1045" y="106"/>
                </a:lnTo>
                <a:lnTo>
                  <a:pt x="1045" y="117"/>
                </a:lnTo>
                <a:lnTo>
                  <a:pt x="1001" y="473"/>
                </a:lnTo>
                <a:lnTo>
                  <a:pt x="999" y="481"/>
                </a:lnTo>
                <a:lnTo>
                  <a:pt x="998" y="487"/>
                </a:lnTo>
                <a:lnTo>
                  <a:pt x="994" y="493"/>
                </a:lnTo>
                <a:lnTo>
                  <a:pt x="991" y="496"/>
                </a:lnTo>
                <a:lnTo>
                  <a:pt x="985" y="500"/>
                </a:lnTo>
                <a:lnTo>
                  <a:pt x="977" y="502"/>
                </a:lnTo>
                <a:lnTo>
                  <a:pt x="971" y="500"/>
                </a:lnTo>
                <a:lnTo>
                  <a:pt x="966" y="500"/>
                </a:lnTo>
                <a:lnTo>
                  <a:pt x="963" y="498"/>
                </a:lnTo>
                <a:lnTo>
                  <a:pt x="959" y="495"/>
                </a:lnTo>
                <a:lnTo>
                  <a:pt x="957" y="491"/>
                </a:lnTo>
                <a:lnTo>
                  <a:pt x="955" y="487"/>
                </a:lnTo>
                <a:lnTo>
                  <a:pt x="955" y="481"/>
                </a:lnTo>
                <a:lnTo>
                  <a:pt x="957" y="475"/>
                </a:lnTo>
                <a:lnTo>
                  <a:pt x="999" y="117"/>
                </a:lnTo>
                <a:lnTo>
                  <a:pt x="999" y="109"/>
                </a:lnTo>
                <a:lnTo>
                  <a:pt x="1001" y="104"/>
                </a:lnTo>
                <a:lnTo>
                  <a:pt x="1005" y="98"/>
                </a:lnTo>
                <a:lnTo>
                  <a:pt x="1008" y="94"/>
                </a:lnTo>
                <a:close/>
              </a:path>
            </a:pathLst>
          </a:custGeom>
          <a:solidFill>
            <a:srgbClr val="ADADAD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788" y="6427788"/>
            <a:ext cx="342900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900" b="1">
                <a:solidFill>
                  <a:srgbClr val="AEAEAE"/>
                </a:solidFill>
                <a:latin typeface="Verdana" pitchFamily="34" charset="0"/>
              </a:defRPr>
            </a:lvl1pPr>
          </a:lstStyle>
          <a:p>
            <a:fld id="{01C6820B-CC4A-491E-8F9E-100B75B675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4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Verdana" pitchFamily="34" charset="0"/>
        <a:buChar char="•"/>
        <a:defRPr sz="3200" b="1">
          <a:solidFill>
            <a:srgbClr val="002B78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2B78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mailto:nikolai_frolov@epam.co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8331" y="3810000"/>
            <a:ext cx="7696200" cy="76200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/>
              <a:t>Scrum Retrospectives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2895600" y="6295292"/>
            <a:ext cx="2965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© 2011. EPAM Systems.</a:t>
            </a:r>
            <a:endParaRPr lang="en-US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34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 smtClean="0"/>
              <a:t>Who’s Talking?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smtClean="0"/>
              <a:t>Nikolai </a:t>
            </a:r>
            <a:r>
              <a:rPr lang="en-US" sz="2400" dirty="0" err="1" smtClean="0"/>
              <a:t>Frolov</a:t>
            </a: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>
              <a:buFontTx/>
              <a:buChar char="-"/>
            </a:pPr>
            <a:endParaRPr lang="en-US" sz="2800" b="0" dirty="0" smtClean="0"/>
          </a:p>
          <a:p>
            <a:pPr>
              <a:buFontTx/>
              <a:buChar char="-"/>
            </a:pPr>
            <a:r>
              <a:rPr lang="en-US" sz="2800" b="0" dirty="0" smtClean="0"/>
              <a:t>SCRUM evangelist for 3 years</a:t>
            </a:r>
          </a:p>
          <a:p>
            <a:pPr>
              <a:buFontTx/>
              <a:buChar char="-"/>
            </a:pPr>
            <a:r>
              <a:rPr lang="en-US" sz="2800" b="0" dirty="0" smtClean="0"/>
              <a:t>Manager of MTV Entertainment stream</a:t>
            </a:r>
          </a:p>
          <a:p>
            <a:pPr>
              <a:buFontTx/>
              <a:buChar char="-"/>
            </a:pPr>
            <a:r>
              <a:rPr lang="en-US" sz="2800" b="0" dirty="0" smtClean="0"/>
              <a:t>Software developer for 6 years</a:t>
            </a:r>
          </a:p>
          <a:p>
            <a:pPr>
              <a:buFontTx/>
              <a:buChar char="-"/>
            </a:pPr>
            <a:endParaRPr lang="en-US" sz="2400" b="0" dirty="0" smtClean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6" name="Image 4" descr="ScrumMaster-smal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1752600"/>
            <a:ext cx="321971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8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Цель тренинга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1043354"/>
            <a:ext cx="8077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accent6"/>
                </a:solidFill>
              </a:rPr>
              <a:t>Дать участникам руководство для проведения ретроспективы в </a:t>
            </a:r>
            <a:r>
              <a:rPr lang="ru-RU" sz="2800" smtClean="0">
                <a:solidFill>
                  <a:schemeClr val="accent6"/>
                </a:solidFill>
              </a:rPr>
              <a:t>своем проекте</a:t>
            </a:r>
            <a:endParaRPr lang="ru-RU" sz="2800" dirty="0" smtClean="0">
              <a:solidFill>
                <a:schemeClr val="accent6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sz="28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84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Аудитория тренинга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chemeClr val="accent6"/>
                </a:solidFill>
              </a:rPr>
              <a:t>Команды работающие в итеративном процессе, которые</a:t>
            </a:r>
          </a:p>
          <a:p>
            <a:endParaRPr lang="ru-RU" sz="3200" dirty="0">
              <a:solidFill>
                <a:schemeClr val="accent6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accent6"/>
                </a:solidFill>
              </a:rPr>
              <a:t>ничего про ретроспективы не знают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accent6"/>
                </a:solidFill>
              </a:rPr>
              <a:t>хотят, но не знают как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accent6"/>
                </a:solidFill>
              </a:rPr>
              <a:t>пробовали, но не хватало теории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43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Регламент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1043354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accent6"/>
                </a:solidFill>
              </a:rPr>
              <a:t>Выключенные телефоны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accent6"/>
                </a:solidFill>
              </a:rPr>
              <a:t>Выключенные ноутбуки</a:t>
            </a:r>
            <a:endParaRPr lang="en-US" sz="3200" dirty="0">
              <a:solidFill>
                <a:schemeClr val="accent6"/>
              </a:solidFill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219200"/>
            <a:ext cx="177165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560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Ретроспектива – </a:t>
            </a:r>
            <a:r>
              <a:rPr lang="ru-RU" dirty="0" smtClean="0"/>
              <a:t>это обзор произошедших событий и анализ недостатков и преимуществ</a:t>
            </a:r>
            <a:endParaRPr lang="ru-RU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Что такое Ретроспектива?</a:t>
            </a:r>
            <a:endParaRPr lang="en-US" sz="24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895599"/>
            <a:ext cx="2162175" cy="316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931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Иными словами</a:t>
            </a:r>
            <a:r>
              <a:rPr lang="en-US" sz="2400" b="1" dirty="0" smtClean="0"/>
              <a:t> - </a:t>
            </a:r>
            <a:r>
              <a:rPr lang="ru-RU" sz="2400" b="1" dirty="0"/>
              <a:t>Что такое Ретроспектива?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dirty="0" smtClean="0"/>
              <a:t>Ретроспектива </a:t>
            </a:r>
            <a:r>
              <a:rPr lang="ru-RU" sz="2800" b="0" dirty="0" smtClean="0"/>
              <a:t>– это</a:t>
            </a:r>
          </a:p>
          <a:p>
            <a:pPr marL="0" indent="0">
              <a:buNone/>
            </a:pPr>
            <a:r>
              <a:rPr lang="ru-RU" sz="2800" b="0" dirty="0" smtClean="0"/>
              <a:t>трансформация </a:t>
            </a:r>
            <a:r>
              <a:rPr lang="ru-RU" sz="2800" dirty="0" smtClean="0"/>
              <a:t>полученного опыта</a:t>
            </a:r>
            <a:r>
              <a:rPr lang="ru-RU" sz="2800" b="0" dirty="0" smtClean="0"/>
              <a:t> </a:t>
            </a:r>
          </a:p>
          <a:p>
            <a:pPr marL="0" indent="0">
              <a:buNone/>
            </a:pPr>
            <a:r>
              <a:rPr lang="ru-RU" sz="2800" b="0" dirty="0" smtClean="0"/>
              <a:t>в </a:t>
            </a:r>
            <a:r>
              <a:rPr lang="ru-RU" sz="2800" dirty="0" smtClean="0"/>
              <a:t>конкретные действия</a:t>
            </a:r>
            <a:r>
              <a:rPr lang="ru-RU" sz="2800" b="0" dirty="0" smtClean="0"/>
              <a:t> </a:t>
            </a:r>
          </a:p>
          <a:p>
            <a:pPr marL="0" indent="0">
              <a:buNone/>
            </a:pPr>
            <a:r>
              <a:rPr lang="ru-RU" sz="2800" b="0" dirty="0" smtClean="0"/>
              <a:t>которые </a:t>
            </a:r>
            <a:r>
              <a:rPr lang="ru-RU" sz="2800" dirty="0" smtClean="0"/>
              <a:t>могут улучшить процесс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048000"/>
            <a:ext cx="3383756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667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Где появилась ретроспектива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Ретроспектива была и до </a:t>
            </a:r>
            <a:r>
              <a:rPr lang="ru-RU" dirty="0" err="1" smtClean="0"/>
              <a:t>скрама</a:t>
            </a:r>
            <a:endParaRPr lang="ru-RU" dirty="0" smtClean="0"/>
          </a:p>
          <a:p>
            <a:pPr marL="0" indent="0" algn="ctr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Классический менеджмент всегда уделял внимание улучшению</a:t>
            </a: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r>
              <a:rPr lang="en-US" dirty="0" smtClean="0"/>
              <a:t>RUP – Post-Mortem Review</a:t>
            </a:r>
          </a:p>
          <a:p>
            <a:r>
              <a:rPr lang="en-US" dirty="0" smtClean="0"/>
              <a:t>PMBOK – Lessons Learned Document</a:t>
            </a:r>
            <a:endParaRPr lang="ru-RU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79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Отличие </a:t>
            </a:r>
            <a:r>
              <a:rPr lang="en-US" sz="2400" b="1" dirty="0" smtClean="0"/>
              <a:t>SCRUM </a:t>
            </a:r>
            <a:r>
              <a:rPr lang="ru-RU" sz="2400" b="1" dirty="0" smtClean="0"/>
              <a:t>Ретроспективы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Scrum </a:t>
            </a:r>
            <a:r>
              <a:rPr lang="ru-RU" dirty="0" smtClean="0"/>
              <a:t>вводит регулярную ретроспективу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Пока проект идет, его можно исправить </a:t>
            </a:r>
          </a:p>
          <a:p>
            <a:pPr marL="0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61331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Постоянный процесс улучшения </a:t>
            </a:r>
            <a:endParaRPr 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0"/>
            <a:ext cx="5565667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41938" y="1305580"/>
            <a:ext cx="1436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Sprint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029200" y="5098803"/>
            <a:ext cx="3031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Retrospective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3550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Правильное отношение к ретроспективе</a:t>
            </a:r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2046383"/>
            <a:ext cx="8915309" cy="3135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7864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Правильное отношение к ретроспективе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57200" y="990600"/>
            <a:ext cx="83058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463" indent="-76200">
              <a:buNone/>
            </a:pPr>
            <a:r>
              <a:rPr lang="en-US" sz="2800" b="1" dirty="0" smtClean="0">
                <a:solidFill>
                  <a:schemeClr val="accent6"/>
                </a:solidFill>
              </a:rPr>
              <a:t>Prime Directive of Retrospective</a:t>
            </a:r>
          </a:p>
          <a:p>
            <a:pPr marL="271463" indent="-76200">
              <a:buNone/>
            </a:pPr>
            <a:endParaRPr lang="ru-RU" sz="2800" b="1" dirty="0" smtClean="0">
              <a:solidFill>
                <a:schemeClr val="accent6"/>
              </a:solidFill>
            </a:endParaRPr>
          </a:p>
          <a:p>
            <a:pPr marL="271463" indent="-76200" algn="r">
              <a:buNone/>
            </a:pPr>
            <a:r>
              <a:rPr lang="en-GB" sz="2800" b="1" i="1" dirty="0" smtClean="0">
                <a:solidFill>
                  <a:schemeClr val="accent6"/>
                </a:solidFill>
              </a:rPr>
              <a:t>“Regardless </a:t>
            </a:r>
            <a:r>
              <a:rPr lang="en-GB" sz="2800" b="1" i="1" dirty="0">
                <a:solidFill>
                  <a:schemeClr val="accent6"/>
                </a:solidFill>
              </a:rPr>
              <a:t>of what we discover, </a:t>
            </a:r>
            <a:br>
              <a:rPr lang="en-GB" sz="2800" b="1" i="1" dirty="0">
                <a:solidFill>
                  <a:schemeClr val="accent6"/>
                </a:solidFill>
              </a:rPr>
            </a:br>
            <a:r>
              <a:rPr lang="en-GB" sz="2800" b="1" i="1" dirty="0">
                <a:solidFill>
                  <a:schemeClr val="accent6"/>
                </a:solidFill>
              </a:rPr>
              <a:t>we understand and truly believe that everyone did the best job he or she could, given what was known at the time, </a:t>
            </a:r>
            <a:br>
              <a:rPr lang="en-GB" sz="2800" b="1" i="1" dirty="0">
                <a:solidFill>
                  <a:schemeClr val="accent6"/>
                </a:solidFill>
              </a:rPr>
            </a:br>
            <a:r>
              <a:rPr lang="en-GB" sz="2800" b="1" i="1" dirty="0">
                <a:solidFill>
                  <a:schemeClr val="accent6"/>
                </a:solidFill>
              </a:rPr>
              <a:t>his or her skills and abilities, </a:t>
            </a:r>
            <a:br>
              <a:rPr lang="en-GB" sz="2800" b="1" i="1" dirty="0">
                <a:solidFill>
                  <a:schemeClr val="accent6"/>
                </a:solidFill>
              </a:rPr>
            </a:br>
            <a:r>
              <a:rPr lang="en-GB" sz="2800" b="1" i="1" dirty="0">
                <a:solidFill>
                  <a:schemeClr val="accent6"/>
                </a:solidFill>
              </a:rPr>
              <a:t>the resources available, </a:t>
            </a:r>
            <a:br>
              <a:rPr lang="en-GB" sz="2800" b="1" i="1" dirty="0">
                <a:solidFill>
                  <a:schemeClr val="accent6"/>
                </a:solidFill>
              </a:rPr>
            </a:br>
            <a:r>
              <a:rPr lang="en-GB" sz="2800" b="1" i="1" dirty="0">
                <a:solidFill>
                  <a:schemeClr val="accent6"/>
                </a:solidFill>
              </a:rPr>
              <a:t>and the situation at hand.”</a:t>
            </a:r>
          </a:p>
          <a:p>
            <a:pPr algn="r">
              <a:buNone/>
            </a:pPr>
            <a:endParaRPr lang="en-GB" sz="2800" b="1" i="1" dirty="0">
              <a:solidFill>
                <a:schemeClr val="accent6"/>
              </a:solidFill>
            </a:endParaRPr>
          </a:p>
          <a:p>
            <a:pPr algn="r">
              <a:buNone/>
            </a:pPr>
            <a:r>
              <a:rPr lang="en-GB" sz="2800" b="1" i="1" dirty="0">
                <a:solidFill>
                  <a:schemeClr val="accent6"/>
                </a:solidFill>
              </a:rPr>
              <a:t>Norman </a:t>
            </a:r>
            <a:r>
              <a:rPr lang="en-GB" sz="2800" b="1" i="1" dirty="0" err="1">
                <a:solidFill>
                  <a:schemeClr val="accent6"/>
                </a:solidFill>
              </a:rPr>
              <a:t>Kerth</a:t>
            </a:r>
            <a:endParaRPr lang="fr-FR" sz="2800" b="1" i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28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Сыграем в игру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3600" dirty="0"/>
              <a:t>Камень, ножницы, </a:t>
            </a:r>
            <a:r>
              <a:rPr lang="ru-RU" sz="3600" dirty="0" smtClean="0"/>
              <a:t>бумага</a:t>
            </a:r>
          </a:p>
          <a:p>
            <a:pPr marL="0" indent="0">
              <a:buNone/>
            </a:pPr>
            <a:r>
              <a:rPr lang="ru-RU" sz="3600" b="0" dirty="0" smtClean="0"/>
              <a:t>Раунд – 1.5 минуты</a:t>
            </a:r>
          </a:p>
          <a:p>
            <a:pPr marL="0" indent="0">
              <a:buNone/>
            </a:pPr>
            <a:r>
              <a:rPr lang="ru-RU" dirty="0" smtClean="0"/>
              <a:t>Цель проекта: победы!</a:t>
            </a:r>
          </a:p>
          <a:p>
            <a:pPr marL="0" indent="0">
              <a:buNone/>
            </a:pPr>
            <a:r>
              <a:rPr lang="ru-RU" dirty="0" smtClean="0"/>
              <a:t>Клиент платит деньги за победы</a:t>
            </a:r>
            <a:endParaRPr lang="ru-RU" sz="36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25" y="3762375"/>
            <a:ext cx="414337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215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dirty="0" smtClean="0"/>
              <a:t>Раунд </a:t>
            </a:r>
            <a:r>
              <a:rPr lang="ru-RU" b="0" dirty="0"/>
              <a:t>– </a:t>
            </a:r>
            <a:r>
              <a:rPr lang="ru-RU" b="0" dirty="0" smtClean="0"/>
              <a:t>1.5 минуты</a:t>
            </a:r>
          </a:p>
          <a:p>
            <a:r>
              <a:rPr lang="ru-RU" b="0" dirty="0" smtClean="0"/>
              <a:t>3 Раунда</a:t>
            </a:r>
          </a:p>
          <a:p>
            <a:r>
              <a:rPr lang="ru-RU" b="0" dirty="0" smtClean="0"/>
              <a:t>После раунда ретроспектива – 1 минута</a:t>
            </a:r>
          </a:p>
          <a:p>
            <a:pPr marL="0" indent="0">
              <a:buNone/>
            </a:pPr>
            <a:endParaRPr lang="ru-RU" b="0" dirty="0"/>
          </a:p>
          <a:p>
            <a:pPr marL="0" indent="0">
              <a:buNone/>
            </a:pPr>
            <a:endParaRPr lang="ru-RU" b="0" dirty="0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Камень, ножницы, бумага</a:t>
            </a:r>
            <a:endParaRPr lang="en-US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27313"/>
              </p:ext>
            </p:extLst>
          </p:nvPr>
        </p:nvGraphicFramePr>
        <p:xfrm>
          <a:off x="533400" y="3200400"/>
          <a:ext cx="8153400" cy="1849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47800"/>
                <a:gridCol w="2209800"/>
                <a:gridCol w="1981200"/>
                <a:gridCol w="2514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Раунд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Победы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Победы 2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Сумма</a:t>
                      </a:r>
                      <a:r>
                        <a:rPr lang="ru-RU" baseline="0" dirty="0" smtClean="0"/>
                        <a:t> побед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51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Выводы после игры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Даже простой процесс можно оптимизировать под задачи</a:t>
            </a:r>
          </a:p>
          <a:p>
            <a:endParaRPr lang="ru-RU" dirty="0" smtClean="0"/>
          </a:p>
          <a:p>
            <a:r>
              <a:rPr lang="ru-RU" dirty="0" smtClean="0"/>
              <a:t>Оптимизация во время процесса позволяет его улучшить</a:t>
            </a:r>
          </a:p>
          <a:p>
            <a:endParaRPr lang="ru-RU" dirty="0" smtClean="0"/>
          </a:p>
          <a:p>
            <a:r>
              <a:rPr lang="ru-RU" dirty="0" smtClean="0"/>
              <a:t>Совместные действия позволяет добиться большего успеха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Участники Ретроспективы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66800"/>
            <a:ext cx="6238875" cy="4899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1871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Facilitator</a:t>
            </a:r>
            <a:endParaRPr lang="ru-RU" dirty="0" smtClean="0">
              <a:solidFill>
                <a:srgbClr val="002060"/>
              </a:solidFill>
            </a:endParaRPr>
          </a:p>
          <a:p>
            <a:r>
              <a:rPr lang="ru-RU" dirty="0" smtClean="0">
                <a:solidFill>
                  <a:srgbClr val="002060"/>
                </a:solidFill>
              </a:rPr>
              <a:t>Участники проекта</a:t>
            </a:r>
            <a:endParaRPr lang="ru-RU" dirty="0">
              <a:solidFill>
                <a:srgbClr val="002060"/>
              </a:solidFill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Product Owner aka </a:t>
            </a:r>
            <a:r>
              <a:rPr lang="ru-RU" b="1" dirty="0" smtClean="0">
                <a:solidFill>
                  <a:srgbClr val="002060"/>
                </a:solidFill>
              </a:rPr>
              <a:t>Клиент</a:t>
            </a:r>
          </a:p>
          <a:p>
            <a:pPr lvl="1"/>
            <a:r>
              <a:rPr lang="ru-RU" b="1" dirty="0" smtClean="0">
                <a:solidFill>
                  <a:srgbClr val="002060"/>
                </a:solidFill>
              </a:rPr>
              <a:t>Разработчики</a:t>
            </a:r>
          </a:p>
          <a:p>
            <a:pPr lvl="1"/>
            <a:r>
              <a:rPr lang="ru-RU" b="1" dirty="0" err="1" smtClean="0">
                <a:solidFill>
                  <a:srgbClr val="002060"/>
                </a:solidFill>
              </a:rPr>
              <a:t>Тестироващики</a:t>
            </a:r>
            <a:endParaRPr lang="ru-RU" b="1" dirty="0" smtClean="0">
              <a:solidFill>
                <a:srgbClr val="002060"/>
              </a:solidFill>
            </a:endParaRPr>
          </a:p>
          <a:p>
            <a:r>
              <a:rPr lang="ru-RU" dirty="0" smtClean="0">
                <a:solidFill>
                  <a:srgbClr val="002060"/>
                </a:solidFill>
              </a:rPr>
              <a:t>И все остальные в качестве зрителей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Участники Ретроспективы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58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Задача </a:t>
            </a:r>
            <a:r>
              <a:rPr lang="ru-RU" dirty="0" err="1" smtClean="0"/>
              <a:t>фасилитатора</a:t>
            </a:r>
            <a:r>
              <a:rPr lang="ru-RU" dirty="0" smtClean="0"/>
              <a:t> не принимать решения, а помогать проведению ретроспективы</a:t>
            </a:r>
          </a:p>
          <a:p>
            <a:pPr marL="0" indent="0">
              <a:buNone/>
            </a:pPr>
            <a:endParaRPr lang="ru-RU" dirty="0" smtClean="0"/>
          </a:p>
          <a:p>
            <a:r>
              <a:rPr lang="ru-RU" sz="2800" dirty="0" smtClean="0"/>
              <a:t>Следить за регламентом, </a:t>
            </a:r>
          </a:p>
          <a:p>
            <a:r>
              <a:rPr lang="ru-RU" sz="2800" dirty="0" smtClean="0"/>
              <a:t>За процессом и временем</a:t>
            </a:r>
          </a:p>
          <a:p>
            <a:r>
              <a:rPr lang="ru-RU" sz="2800" dirty="0" smtClean="0"/>
              <a:t>Давать возможность говорить участникам</a:t>
            </a:r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Участники Ретроспективы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437" y="2514600"/>
            <a:ext cx="2311776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902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 smtClean="0"/>
              <a:t>Фасилитатором</a:t>
            </a:r>
            <a:r>
              <a:rPr lang="ru-RU" dirty="0" smtClean="0"/>
              <a:t> может быть любой 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 smtClean="0"/>
              <a:t>Любой участник проекта</a:t>
            </a:r>
          </a:p>
          <a:p>
            <a:r>
              <a:rPr lang="ru-RU" dirty="0" smtClean="0"/>
              <a:t>И даже сторонний участник проекта</a:t>
            </a:r>
          </a:p>
          <a:p>
            <a:endParaRPr lang="ru-RU" dirty="0"/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Участники Ретроспективы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 smtClean="0"/>
              <a:t>Фасилитатора</a:t>
            </a:r>
            <a:r>
              <a:rPr lang="ru-RU" dirty="0" smtClean="0"/>
              <a:t> можно и нужно менять. Каждый поможет раскрыть команде новые мысли.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Участники Ретроспективы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2743200"/>
            <a:ext cx="4762500" cy="315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608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Set the Stage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Gather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Generate 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Decide What to Do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Close the Retrospective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Структура Ретроспективы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7724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Set the Stage (Ice Breaker</a:t>
            </a:r>
            <a:r>
              <a:rPr lang="en-US" sz="3600" dirty="0" smtClean="0"/>
              <a:t>)</a:t>
            </a:r>
            <a:r>
              <a:rPr lang="ru-RU" sz="3600" dirty="0" smtClean="0"/>
              <a:t> – 5%</a:t>
            </a: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Структура Ретроспективы</a:t>
            </a:r>
            <a:endParaRPr 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81200"/>
            <a:ext cx="4824413" cy="370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1292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Set the </a:t>
            </a:r>
            <a:r>
              <a:rPr lang="en-US" dirty="0" smtClean="0"/>
              <a:t>Stage</a:t>
            </a:r>
          </a:p>
          <a:p>
            <a:pPr marL="0" indent="0"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</a:rPr>
              <a:t>Purpose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</a:rPr>
              <a:t>Attitude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</a:rPr>
              <a:t>Timeframe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Values and Agreements</a:t>
            </a:r>
          </a:p>
          <a:p>
            <a:pPr lvl="1">
              <a:buFont typeface="Arial" pitchFamily="34" charset="0"/>
              <a:buChar char="•"/>
            </a:pPr>
            <a:r>
              <a:rPr lang="en-US" sz="3200" b="1" dirty="0">
                <a:solidFill>
                  <a:srgbClr val="002060"/>
                </a:solidFill>
              </a:rPr>
              <a:t>Everyone participates</a:t>
            </a:r>
          </a:p>
          <a:p>
            <a:pPr lvl="1">
              <a:buFont typeface="Arial" pitchFamily="34" charset="0"/>
              <a:buChar char="•"/>
            </a:pPr>
            <a:r>
              <a:rPr lang="en-US" sz="3200" b="1" dirty="0">
                <a:solidFill>
                  <a:srgbClr val="002060"/>
                </a:solidFill>
              </a:rPr>
              <a:t>Prime directive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Структура Ретроспективы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858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Gather </a:t>
            </a:r>
            <a:r>
              <a:rPr lang="en-US" sz="3600" dirty="0" smtClean="0"/>
              <a:t>Data</a:t>
            </a:r>
            <a:r>
              <a:rPr lang="ru-RU" sz="3600" dirty="0" smtClean="0"/>
              <a:t> - </a:t>
            </a:r>
            <a:r>
              <a:rPr lang="en-US" sz="3600" b="0" dirty="0"/>
              <a:t>30–50%</a:t>
            </a:r>
            <a:r>
              <a:rPr lang="ru-RU" sz="3600" dirty="0" smtClean="0"/>
              <a:t> </a:t>
            </a:r>
            <a:endParaRPr lang="en-US" sz="3600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Структура Ретроспективы</a:t>
            </a:r>
            <a:endParaRPr 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62820"/>
            <a:ext cx="5827701" cy="386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599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Gather </a:t>
            </a:r>
            <a:r>
              <a:rPr lang="en-US" sz="3600" dirty="0" smtClean="0"/>
              <a:t>Data</a:t>
            </a:r>
          </a:p>
          <a:p>
            <a:pPr marL="0" indent="0">
              <a:buNone/>
            </a:pPr>
            <a:endParaRPr lang="ru-RU" dirty="0" smtClean="0"/>
          </a:p>
          <a:p>
            <a:r>
              <a:rPr lang="en-US" dirty="0"/>
              <a:t>C</a:t>
            </a:r>
            <a:r>
              <a:rPr lang="en-US" dirty="0" smtClean="0"/>
              <a:t>ollect Hard data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JIRA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Story Points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Timeline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 smtClean="0"/>
              <a:t>Collect Emotional data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Emotional Chart</a:t>
            </a:r>
            <a:r>
              <a:rPr lang="ru-RU" dirty="0" smtClean="0">
                <a:solidFill>
                  <a:srgbClr val="002060"/>
                </a:solidFill>
              </a:rPr>
              <a:t> (</a:t>
            </a:r>
            <a:r>
              <a:rPr lang="en-US" dirty="0" smtClean="0">
                <a:solidFill>
                  <a:srgbClr val="002060"/>
                </a:solidFill>
              </a:rPr>
              <a:t>Mad/Sad/Glad)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Структура Ретроспективы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875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13725" cy="5135562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Generate </a:t>
            </a:r>
            <a:r>
              <a:rPr lang="en-US" sz="3600" dirty="0" smtClean="0"/>
              <a:t>Insights</a:t>
            </a:r>
            <a:r>
              <a:rPr lang="ru-RU" sz="3600" dirty="0" smtClean="0"/>
              <a:t> - </a:t>
            </a:r>
            <a:r>
              <a:rPr lang="en-US" sz="3600" b="0" dirty="0" smtClean="0"/>
              <a:t>20–30</a:t>
            </a:r>
            <a:r>
              <a:rPr lang="en-US" sz="3600" b="0" dirty="0"/>
              <a:t>%</a:t>
            </a:r>
            <a:endParaRPr lang="en-US" sz="36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Структура Ретроспективы</a:t>
            </a:r>
            <a:endParaRPr 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212428"/>
            <a:ext cx="2176463" cy="3279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599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13725" cy="5135562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Generate </a:t>
            </a:r>
            <a:r>
              <a:rPr lang="en-US" sz="3600" dirty="0" smtClean="0"/>
              <a:t>Insights</a:t>
            </a:r>
            <a:endParaRPr lang="en-US" dirty="0" smtClean="0"/>
          </a:p>
          <a:p>
            <a:r>
              <a:rPr lang="en-US" dirty="0"/>
              <a:t>Why time</a:t>
            </a:r>
          </a:p>
          <a:p>
            <a:r>
              <a:rPr lang="en-US" dirty="0"/>
              <a:t>Patterns, ideas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Структура Ретроспективы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574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Decide What to </a:t>
            </a:r>
            <a:r>
              <a:rPr lang="en-US" sz="3600" dirty="0" smtClean="0"/>
              <a:t>Do</a:t>
            </a:r>
            <a:r>
              <a:rPr lang="ru-RU" sz="3600" dirty="0" smtClean="0"/>
              <a:t> - </a:t>
            </a:r>
            <a:r>
              <a:rPr lang="en-US" sz="3600" b="0" dirty="0"/>
              <a:t>15–20%</a:t>
            </a:r>
            <a:endParaRPr lang="en-US" sz="36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Структура Ретроспективы</a:t>
            </a:r>
            <a:endParaRPr lang="en-US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438400"/>
            <a:ext cx="3509244" cy="2328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63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Decide What to Do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pick </a:t>
            </a:r>
            <a:r>
              <a:rPr lang="en-US" dirty="0" smtClean="0"/>
              <a:t>and </a:t>
            </a:r>
            <a:r>
              <a:rPr lang="en-US" sz="4400" dirty="0" smtClean="0">
                <a:solidFill>
                  <a:srgbClr val="C00000"/>
                </a:solidFill>
              </a:rPr>
              <a:t>limit (1-3)</a:t>
            </a:r>
            <a:r>
              <a:rPr lang="en-US" dirty="0" smtClean="0"/>
              <a:t> </a:t>
            </a:r>
            <a:r>
              <a:rPr lang="en-US" dirty="0"/>
              <a:t>actions list</a:t>
            </a:r>
          </a:p>
          <a:p>
            <a:r>
              <a:rPr lang="en-US" dirty="0"/>
              <a:t>assign actions </a:t>
            </a:r>
            <a:r>
              <a:rPr lang="en-US" dirty="0" smtClean="0"/>
              <a:t>plan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Структура Ретроспективы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599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Close the </a:t>
            </a:r>
            <a:r>
              <a:rPr lang="en-US" dirty="0" smtClean="0"/>
              <a:t>Retrospective - </a:t>
            </a:r>
            <a:r>
              <a:rPr lang="en-US" b="0" dirty="0"/>
              <a:t>10%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Структура Ретроспективы</a:t>
            </a:r>
            <a:endParaRPr lang="en-US" sz="24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133600"/>
            <a:ext cx="4114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027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Close the </a:t>
            </a:r>
            <a:r>
              <a:rPr lang="en-US" dirty="0" smtClean="0"/>
              <a:t>Retrospective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Document</a:t>
            </a:r>
          </a:p>
          <a:p>
            <a:r>
              <a:rPr lang="en-US" dirty="0" smtClean="0"/>
              <a:t>Appreciations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Структура Ретроспективы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599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803" y="1042988"/>
            <a:ext cx="6874268" cy="5135562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Пример разбора ретроспективы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992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 smtClean="0"/>
              <a:t>Внедряем ретроспективы в проект</a:t>
            </a:r>
            <a:endParaRPr lang="en-US" sz="24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14425"/>
            <a:ext cx="5486400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956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/>
              <a:t>Внедряем ретроспективы в проект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66800"/>
            <a:ext cx="81534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Implement Sprint Backlog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Deliver Sprint results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Sprint Retrospective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Gather Data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Generate Insights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Decide What to Do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Incorporate </a:t>
            </a:r>
            <a:r>
              <a:rPr lang="en-US" sz="3200" dirty="0" smtClean="0">
                <a:solidFill>
                  <a:srgbClr val="002060"/>
                </a:solidFill>
              </a:rPr>
              <a:t>Experiments </a:t>
            </a:r>
            <a:endParaRPr lang="en-US" sz="3200" dirty="0">
              <a:solidFill>
                <a:srgbClr val="00206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3200" dirty="0">
              <a:solidFill>
                <a:srgbClr val="00206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3200" dirty="0">
              <a:solidFill>
                <a:srgbClr val="00206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11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/>
              <a:t>Внедряем ретроспективы в проект</a:t>
            </a:r>
            <a:endParaRPr lang="en-US" sz="2400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33600"/>
            <a:ext cx="7747000" cy="3390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304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Вопросы?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 smtClean="0"/>
              <a:t>Scrum Retrospectives</a:t>
            </a:r>
            <a:endParaRPr 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1985963"/>
            <a:ext cx="4038600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537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 smtClean="0"/>
              <a:t>Resources to read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Web</a:t>
            </a:r>
          </a:p>
          <a:p>
            <a:r>
              <a:rPr lang="en-US" sz="2000" b="0" dirty="0" smtClean="0"/>
              <a:t>Retrospectives.com</a:t>
            </a:r>
          </a:p>
          <a:p>
            <a:r>
              <a:rPr lang="en-US" sz="2000" b="0" dirty="0" smtClean="0"/>
              <a:t>agile-alchemist.com</a:t>
            </a:r>
          </a:p>
          <a:p>
            <a:endParaRPr lang="en-US" sz="2000" b="0" dirty="0" smtClean="0"/>
          </a:p>
          <a:p>
            <a:pPr marL="0" indent="0">
              <a:buNone/>
            </a:pPr>
            <a:r>
              <a:rPr lang="en-US" sz="2000" dirty="0" smtClean="0"/>
              <a:t>Books</a:t>
            </a:r>
          </a:p>
          <a:p>
            <a:r>
              <a:rPr lang="en-US" sz="2000" b="0" dirty="0" smtClean="0"/>
              <a:t>Agile Retrospectives. </a:t>
            </a:r>
          </a:p>
          <a:p>
            <a:pPr marL="0" indent="0">
              <a:buNone/>
            </a:pPr>
            <a:r>
              <a:rPr lang="en-US" sz="2000" b="0" dirty="0" smtClean="0"/>
              <a:t>     Making Good Teams Great</a:t>
            </a:r>
          </a:p>
          <a:p>
            <a:pPr marL="0" indent="0">
              <a:buNone/>
            </a:pPr>
            <a:r>
              <a:rPr lang="en-US" sz="2000" b="0" dirty="0" smtClean="0"/>
              <a:t>     Esther Derby, Diana Larsen</a:t>
            </a:r>
          </a:p>
          <a:p>
            <a:pPr marL="0" indent="0">
              <a:buNone/>
            </a:pPr>
            <a:endParaRPr lang="en-US" sz="2000" b="0" dirty="0" smtClean="0"/>
          </a:p>
          <a:p>
            <a:r>
              <a:rPr lang="en-US" sz="2000" b="0" dirty="0"/>
              <a:t>Project Retrospectives: </a:t>
            </a:r>
            <a:endParaRPr lang="en-US" sz="2000" b="0" dirty="0" smtClean="0"/>
          </a:p>
          <a:p>
            <a:pPr marL="0" indent="0">
              <a:buNone/>
            </a:pPr>
            <a:r>
              <a:rPr lang="en-US" sz="2000" b="0" dirty="0" smtClean="0"/>
              <a:t>    A </a:t>
            </a:r>
            <a:r>
              <a:rPr lang="en-US" sz="2000" b="0" dirty="0"/>
              <a:t>Handbook for Team Reviews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</a:t>
            </a:r>
            <a:r>
              <a:rPr lang="en-US" sz="2000" b="0" dirty="0" smtClean="0"/>
              <a:t>Norman </a:t>
            </a:r>
            <a:r>
              <a:rPr lang="en-US" sz="2000" b="0" dirty="0"/>
              <a:t>L. </a:t>
            </a:r>
            <a:r>
              <a:rPr lang="en-US" sz="2000" b="0" dirty="0" err="1"/>
              <a:t>Kerth</a:t>
            </a:r>
            <a:endParaRPr lang="en-US" sz="2000" b="0" dirty="0" smtClean="0"/>
          </a:p>
          <a:p>
            <a:endParaRPr lang="en-US" sz="2000" b="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841" y="914400"/>
            <a:ext cx="217170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875" y="3505200"/>
            <a:ext cx="224790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577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smtClean="0"/>
              <a:t>Email: </a:t>
            </a:r>
            <a:r>
              <a:rPr lang="en-US" b="0" dirty="0" err="1" smtClean="0">
                <a:hlinkClick r:id="rId3"/>
              </a:rPr>
              <a:t>nikolai</a:t>
            </a:r>
            <a:r>
              <a:rPr lang="ru-RU" b="0" dirty="0" smtClean="0">
                <a:hlinkClick r:id="rId3"/>
              </a:rPr>
              <a:t>_</a:t>
            </a:r>
            <a:r>
              <a:rPr lang="en-US" b="0" dirty="0" smtClean="0">
                <a:hlinkClick r:id="rId3"/>
              </a:rPr>
              <a:t>frolov@epam.com</a:t>
            </a:r>
            <a:endParaRPr lang="en-US" b="0" dirty="0" smtClean="0"/>
          </a:p>
          <a:p>
            <a:r>
              <a:rPr lang="en-US" b="0" dirty="0" smtClean="0"/>
              <a:t>Skype: </a:t>
            </a:r>
            <a:r>
              <a:rPr lang="en-US" b="0" dirty="0" err="1" smtClean="0"/>
              <a:t>nikolai.frolov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03606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PAM official current template">
  <a:themeElements>
    <a:clrScheme name="EPAM official current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3366FF"/>
      </a:hlink>
      <a:folHlink>
        <a:srgbClr val="99CC00"/>
      </a:folHlink>
    </a:clrScheme>
    <a:fontScheme name="EPAM official current 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EPAM official current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AM official current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AM official current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AM official current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AM official current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AM official current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PAM official current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3366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b51e7609-5b06-40a7-a4be-e5c8ed5bc5fe">C34HNKV52RCN-18-23</_dlc_DocId>
    <_dlc_DocIdUrl xmlns="b51e7609-5b06-40a7-a4be-e5c8ed5bc5fe">
      <Url>https://cdp.epam.com/catalog/_layouts/DocIdRedir.aspx?ID=C34HNKV52RCN-18-23</Url>
      <Description>C34HNKV52RCN-18-23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2DDDE56B25884D874D72D626DED60D" ma:contentTypeVersion="1" ma:contentTypeDescription="Create a new document." ma:contentTypeScope="" ma:versionID="a4b11164e5a106cd72a628f69bcc8eeb">
  <xsd:schema xmlns:xsd="http://www.w3.org/2001/XMLSchema" xmlns:xs="http://www.w3.org/2001/XMLSchema" xmlns:p="http://schemas.microsoft.com/office/2006/metadata/properties" xmlns:ns2="b51e7609-5b06-40a7-a4be-e5c8ed5bc5fe" targetNamespace="http://schemas.microsoft.com/office/2006/metadata/properties" ma:root="true" ma:fieldsID="bfe32b79540cb92a287943cf18cc14f1" ns2:_="">
    <xsd:import namespace="b51e7609-5b06-40a7-a4be-e5c8ed5bc5fe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1e7609-5b06-40a7-a4be-e5c8ed5bc5fe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A35DAB-6DB9-4B02-8539-BC0A163BCD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2132EC-FE98-441B-A41E-645446D3B40F}">
  <ds:schemaRefs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b51e7609-5b06-40a7-a4be-e5c8ed5bc5f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FADBA2A-A1BB-4710-8554-DB6DD365FD4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344A32E9-3A88-43D0-A284-397037AC67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1e7609-5b06-40a7-a4be-e5c8ed5bc5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2565</TotalTime>
  <Words>823</Words>
  <Application>Microsoft Office PowerPoint</Application>
  <PresentationFormat>On-screen Show (4:3)</PresentationFormat>
  <Paragraphs>249</Paragraphs>
  <Slides>38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Tahoma</vt:lpstr>
      <vt:lpstr>Verdana</vt:lpstr>
      <vt:lpstr>EPAM official current template</vt:lpstr>
      <vt:lpstr>Photo Editor Photo</vt:lpstr>
      <vt:lpstr>Scrum Retrospectives </vt:lpstr>
      <vt:lpstr>Who’s Talking?</vt:lpstr>
      <vt:lpstr>Цель тренинга</vt:lpstr>
      <vt:lpstr>Аудитория тренинга</vt:lpstr>
      <vt:lpstr>Регламент</vt:lpstr>
      <vt:lpstr>Что такое Ретроспектива?</vt:lpstr>
      <vt:lpstr>Иными словами - Что такое Ретроспектива?</vt:lpstr>
      <vt:lpstr>Где появилась ретроспектива</vt:lpstr>
      <vt:lpstr>Отличие SCRUM Ретроспективы</vt:lpstr>
      <vt:lpstr>Постоянный процесс улучшения </vt:lpstr>
      <vt:lpstr>Правильное отношение к ретроспективе</vt:lpstr>
      <vt:lpstr>Правильное отношение к ретроспективе</vt:lpstr>
      <vt:lpstr>Сыграем в игру</vt:lpstr>
      <vt:lpstr>Камень, ножницы, бумага</vt:lpstr>
      <vt:lpstr>Выводы после игры</vt:lpstr>
      <vt:lpstr>Участники Ретроспективы</vt:lpstr>
      <vt:lpstr>Участники Ретроспективы</vt:lpstr>
      <vt:lpstr>Участники Ретроспективы</vt:lpstr>
      <vt:lpstr>Участники Ретроспективы</vt:lpstr>
      <vt:lpstr>Участники Ретроспективы</vt:lpstr>
      <vt:lpstr>Структура Ретроспективы</vt:lpstr>
      <vt:lpstr>Структура Ретроспективы</vt:lpstr>
      <vt:lpstr>Структура Ретроспективы</vt:lpstr>
      <vt:lpstr>Структура Ретроспективы</vt:lpstr>
      <vt:lpstr>Структура Ретроспективы</vt:lpstr>
      <vt:lpstr>Структура Ретроспективы</vt:lpstr>
      <vt:lpstr>Структура Ретроспективы</vt:lpstr>
      <vt:lpstr>Структура Ретроспективы</vt:lpstr>
      <vt:lpstr>Структура Ретроспективы</vt:lpstr>
      <vt:lpstr>Структура Ретроспективы</vt:lpstr>
      <vt:lpstr>Структура Ретроспективы</vt:lpstr>
      <vt:lpstr>Пример разбора ретроспективы</vt:lpstr>
      <vt:lpstr>Внедряем ретроспективы в проект</vt:lpstr>
      <vt:lpstr>Внедряем ретроспективы в проект</vt:lpstr>
      <vt:lpstr>Внедряем ретроспективы в проект</vt:lpstr>
      <vt:lpstr>Scrum Retrospectives</vt:lpstr>
      <vt:lpstr>Resources to read</vt:lpstr>
      <vt:lpstr>Questions?</vt:lpstr>
    </vt:vector>
  </TitlesOfParts>
  <Company>EPAM Systems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Andrei Stsiapanau</dc:creator>
  <cp:lastModifiedBy>Alexey Mogilny</cp:lastModifiedBy>
  <cp:revision>231</cp:revision>
  <dcterms:created xsi:type="dcterms:W3CDTF">2011-01-18T09:37:17Z</dcterms:created>
  <dcterms:modified xsi:type="dcterms:W3CDTF">2014-04-16T14:15:09Z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0x010100F62DDDE56B25884D874D72D626DED60D</vt:lpwstr>
  </property>
  <property fmtid="{D5CDD505-2E9C-101B-9397-08002B2CF9AE}" pid="3" name="_dlc_DocIdItemGuid">
    <vt:lpwstr>5071c077-5362-4f70-8f0f-d947641fcd3b</vt:lpwstr>
  </property>
</Properties>
</file>